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Montserrat Bold" charset="1" panose="00000800000000000000"/>
      <p:regular r:id="rId27"/>
    </p:embeddedFont>
    <p:embeddedFont>
      <p:font typeface="Montserrat" charset="1" panose="00000500000000000000"/>
      <p:regular r:id="rId28"/>
    </p:embeddedFont>
    <p:embeddedFont>
      <p:font typeface="DM Sans Bold" charset="1" panose="00000000000000000000"/>
      <p:regular r:id="rId29"/>
    </p:embeddedFont>
    <p:embeddedFont>
      <p:font typeface="DM Sans Italics" charset="1" panose="00000000000000000000"/>
      <p:regular r:id="rId30"/>
    </p:embeddedFont>
    <p:embeddedFont>
      <p:font typeface="Open Sans Bold" charset="1" panose="020B0806030504020204"/>
      <p:regular r:id="rId31"/>
    </p:embeddedFont>
    <p:embeddedFont>
      <p:font typeface="Open Sans" charset="1" panose="020B0606030504020204"/>
      <p:regular r:id="rId32"/>
    </p:embeddedFont>
    <p:embeddedFont>
      <p:font typeface="DM Sans" charset="1" panose="00000000000000000000"/>
      <p:regular r:id="rId33"/>
    </p:embeddedFont>
    <p:embeddedFont>
      <p:font typeface="Arimo" charset="1" panose="020B06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0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1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2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37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38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t="0" r="-33333" b="0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1411815" y="6585624"/>
            <a:ext cx="12114058" cy="0"/>
          </a:xfrm>
          <a:prstGeom prst="line">
            <a:avLst/>
          </a:prstGeom>
          <a:ln cap="flat" w="666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11815" y="8706424"/>
            <a:ext cx="238384" cy="23838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5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205352" y="8706424"/>
            <a:ext cx="238384" cy="23838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5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537024" y="8706424"/>
            <a:ext cx="238384" cy="2383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254C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25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57123" y="3129876"/>
            <a:ext cx="13983875" cy="327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59"/>
              </a:lnSpc>
            </a:pPr>
            <a:r>
              <a:rPr lang="en-US" sz="939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Sistema de Gestión de Taller PepsiCo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3525873" y="8931624"/>
            <a:ext cx="4435626" cy="1092273"/>
          </a:xfrm>
          <a:custGeom>
            <a:avLst/>
            <a:gdLst/>
            <a:ahLst/>
            <a:cxnLst/>
            <a:rect r="r" b="b" t="t" l="l"/>
            <a:pathLst>
              <a:path h="1092273" w="4435626">
                <a:moveTo>
                  <a:pt x="0" y="0"/>
                </a:moveTo>
                <a:lnTo>
                  <a:pt x="4435626" y="0"/>
                </a:lnTo>
                <a:lnTo>
                  <a:pt x="4435626" y="1092273"/>
                </a:lnTo>
                <a:lnTo>
                  <a:pt x="0" y="1092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559164" y="8690996"/>
            <a:ext cx="2533105" cy="24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CAPSTONE 003D - Grupo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8620" y="8690996"/>
            <a:ext cx="2341957" cy="24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Ingeniería en Informática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80910" y="8690996"/>
            <a:ext cx="3046543" cy="240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Diego Fuentes - Dana Werdecker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00774" y="3746651"/>
            <a:ext cx="502056" cy="5020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E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7066" y="3746651"/>
            <a:ext cx="502056" cy="50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648E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54028" y="3746651"/>
            <a:ext cx="502056" cy="50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3DA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261128" y="3746651"/>
            <a:ext cx="502056" cy="5020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4A71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219075"/>
              <a:ext cx="431800" cy="403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261319" y="1932079"/>
            <a:ext cx="11765361" cy="117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  <a:r>
              <a:rPr lang="en-US" b="true" sz="90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Planificación General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4939" y="4463975"/>
            <a:ext cx="2986312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Iniciación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98379" y="4463975"/>
            <a:ext cx="5306847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Análisis y Diseño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9209" y="5086350"/>
            <a:ext cx="1197771" cy="28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Completada.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71487" y="5086350"/>
            <a:ext cx="1160630" cy="28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Completada.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72951" y="4463975"/>
            <a:ext cx="3264211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1C55A0"/>
                </a:solidFill>
                <a:latin typeface="DM Sans Bold"/>
                <a:ea typeface="DM Sans Bold"/>
                <a:cs typeface="DM Sans Bold"/>
                <a:sym typeface="DM Sans Bold"/>
              </a:rPr>
              <a:t>Desarrollo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23877" y="5086350"/>
            <a:ext cx="1355197" cy="28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Completada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13494" y="4463975"/>
            <a:ext cx="2197323" cy="6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0"/>
              </a:lnSpc>
            </a:pPr>
            <a:r>
              <a:rPr lang="en-US" b="true" sz="5000">
                <a:solidFill>
                  <a:srgbClr val="EF4A71"/>
                </a:solidFill>
                <a:latin typeface="DM Sans Bold"/>
                <a:ea typeface="DM Sans Bold"/>
                <a:cs typeface="DM Sans Bold"/>
                <a:sym typeface="DM Sans Bold"/>
              </a:rPr>
              <a:t>Cierre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36805" y="5086350"/>
            <a:ext cx="950702" cy="283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500" i="true">
                <a:solidFill>
                  <a:srgbClr val="00000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Pendiente.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-1573240" y="8893298"/>
            <a:ext cx="4051334" cy="2765036"/>
          </a:xfrm>
          <a:custGeom>
            <a:avLst/>
            <a:gdLst/>
            <a:ahLst/>
            <a:cxnLst/>
            <a:rect r="r" b="b" t="t" l="l"/>
            <a:pathLst>
              <a:path h="2765036" w="4051334">
                <a:moveTo>
                  <a:pt x="0" y="0"/>
                </a:moveTo>
                <a:lnTo>
                  <a:pt x="4051334" y="0"/>
                </a:lnTo>
                <a:lnTo>
                  <a:pt x="4051334" y="2765036"/>
                </a:lnTo>
                <a:lnTo>
                  <a:pt x="0" y="2765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62955" y="8864586"/>
            <a:ext cx="4602314" cy="3618569"/>
          </a:xfrm>
          <a:custGeom>
            <a:avLst/>
            <a:gdLst/>
            <a:ahLst/>
            <a:cxnLst/>
            <a:rect r="r" b="b" t="t" l="l"/>
            <a:pathLst>
              <a:path h="3618569" w="4602314">
                <a:moveTo>
                  <a:pt x="0" y="0"/>
                </a:moveTo>
                <a:lnTo>
                  <a:pt x="4602314" y="0"/>
                </a:lnTo>
                <a:lnTo>
                  <a:pt x="4602314" y="3618569"/>
                </a:lnTo>
                <a:lnTo>
                  <a:pt x="0" y="36185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-674156" y="-1322787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8" y="0"/>
                </a:lnTo>
                <a:lnTo>
                  <a:pt x="4224468" y="2645574"/>
                </a:lnTo>
                <a:lnTo>
                  <a:pt x="0" y="2645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1101574" y="9560661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653627" y="-3037933"/>
            <a:ext cx="5493058" cy="4114800"/>
          </a:xfrm>
          <a:custGeom>
            <a:avLst/>
            <a:gdLst/>
            <a:ahLst/>
            <a:cxnLst/>
            <a:rect r="r" b="b" t="t" l="l"/>
            <a:pathLst>
              <a:path h="4114800" w="5493058">
                <a:moveTo>
                  <a:pt x="0" y="0"/>
                </a:moveTo>
                <a:lnTo>
                  <a:pt x="5493058" y="0"/>
                </a:lnTo>
                <a:lnTo>
                  <a:pt x="54930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8" id="28"/>
          <p:cNvSpPr/>
          <p:nvPr/>
        </p:nvSpPr>
        <p:spPr>
          <a:xfrm flipH="false" flipV="false" rot="-5400000">
            <a:off x="4745771" y="-1877331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2932282" y="9271808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15262955" y="-1072630"/>
            <a:ext cx="1996345" cy="2149497"/>
          </a:xfrm>
          <a:custGeom>
            <a:avLst/>
            <a:gdLst/>
            <a:ahLst/>
            <a:cxnLst/>
            <a:rect r="r" b="b" t="t" l="l"/>
            <a:pathLst>
              <a:path h="2149497" w="1996345">
                <a:moveTo>
                  <a:pt x="0" y="0"/>
                </a:moveTo>
                <a:lnTo>
                  <a:pt x="1996345" y="0"/>
                </a:lnTo>
                <a:lnTo>
                  <a:pt x="1996345" y="2149497"/>
                </a:lnTo>
                <a:lnTo>
                  <a:pt x="0" y="21494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1" id="31"/>
          <p:cNvSpPr/>
          <p:nvPr/>
        </p:nvSpPr>
        <p:spPr>
          <a:xfrm>
            <a:off x="-1573240" y="3997679"/>
            <a:ext cx="8974014" cy="0"/>
          </a:xfrm>
          <a:prstGeom prst="line">
            <a:avLst/>
          </a:prstGeom>
          <a:ln cap="flat" w="28575">
            <a:solidFill>
              <a:srgbClr val="648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7902830" y="3997679"/>
            <a:ext cx="4972601" cy="0"/>
          </a:xfrm>
          <a:prstGeom prst="line">
            <a:avLst/>
          </a:prstGeom>
          <a:ln cap="flat" w="28575">
            <a:solidFill>
              <a:srgbClr val="648E3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3156085" y="3997679"/>
            <a:ext cx="3270002" cy="0"/>
          </a:xfrm>
          <a:prstGeom prst="line">
            <a:avLst/>
          </a:prstGeom>
          <a:ln cap="flat" w="28575">
            <a:solidFill>
              <a:srgbClr val="003DA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452427" y="6166016"/>
            <a:ext cx="2749042" cy="39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Entregables clave: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55615" y="6650753"/>
            <a:ext cx="3444959" cy="221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Acta de Constitución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RACI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Stakeholders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Carta Gantt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Supuestos, Restricciones y Riesgos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418389" y="6650753"/>
            <a:ext cx="2466826" cy="221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UML/BPMN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Arquitectura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EDT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Plan de Pruebas</a:t>
            </a:r>
          </a:p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Mockups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364675" y="7393777"/>
            <a:ext cx="3080762" cy="727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Implementación BD Y Backend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368393" y="7393777"/>
            <a:ext cx="2287526" cy="727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Pruebas y entrega final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13605" y="5473731"/>
            <a:ext cx="3328980" cy="22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Cierre: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17/09/2025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987312" y="5473731"/>
            <a:ext cx="3328980" cy="22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648E38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Cierre: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21/10/2025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40567" y="5541608"/>
            <a:ext cx="3296595" cy="22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1C55A0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Inicio: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22/10/2025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847666" y="5541608"/>
            <a:ext cx="3328980" cy="22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b="true" sz="1698">
                <a:solidFill>
                  <a:srgbClr val="EF4A71"/>
                </a:solidFill>
                <a:latin typeface="DM Sans Bold"/>
                <a:ea typeface="DM Sans Bold"/>
                <a:cs typeface="DM Sans Bold"/>
                <a:sym typeface="DM Sans Bold"/>
              </a:rPr>
              <a:t>Fecha de Inicio: </a:t>
            </a:r>
            <a:r>
              <a:rPr lang="en-US" sz="169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18/11/2025</a:t>
            </a:r>
          </a:p>
        </p:txBody>
      </p:sp>
      <p:sp>
        <p:nvSpPr>
          <p:cNvPr name="AutoShape 43" id="43"/>
          <p:cNvSpPr/>
          <p:nvPr/>
        </p:nvSpPr>
        <p:spPr>
          <a:xfrm>
            <a:off x="16541644" y="3997679"/>
            <a:ext cx="3270002" cy="0"/>
          </a:xfrm>
          <a:prstGeom prst="line">
            <a:avLst/>
          </a:prstGeom>
          <a:ln cap="flat" w="28575">
            <a:solidFill>
              <a:srgbClr val="EF4A7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43533" y="1766034"/>
            <a:ext cx="17901995" cy="6489473"/>
          </a:xfrm>
          <a:custGeom>
            <a:avLst/>
            <a:gdLst/>
            <a:ahLst/>
            <a:cxnLst/>
            <a:rect r="r" b="b" t="t" l="l"/>
            <a:pathLst>
              <a:path h="6489473" w="17901995">
                <a:moveTo>
                  <a:pt x="0" y="0"/>
                </a:moveTo>
                <a:lnTo>
                  <a:pt x="17901995" y="0"/>
                </a:lnTo>
                <a:lnTo>
                  <a:pt x="17901995" y="6489473"/>
                </a:lnTo>
                <a:lnTo>
                  <a:pt x="0" y="64894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14825" y="317626"/>
            <a:ext cx="8858349" cy="129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 Fase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65258" y="1766034"/>
            <a:ext cx="17785795" cy="7492266"/>
          </a:xfrm>
          <a:custGeom>
            <a:avLst/>
            <a:gdLst/>
            <a:ahLst/>
            <a:cxnLst/>
            <a:rect r="r" b="b" t="t" l="l"/>
            <a:pathLst>
              <a:path h="7492266" w="17785795">
                <a:moveTo>
                  <a:pt x="0" y="0"/>
                </a:moveTo>
                <a:lnTo>
                  <a:pt x="17785796" y="0"/>
                </a:lnTo>
                <a:lnTo>
                  <a:pt x="17785796" y="7492266"/>
                </a:lnTo>
                <a:lnTo>
                  <a:pt x="0" y="749226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14825" y="317626"/>
            <a:ext cx="8858349" cy="129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Carta Gantt Fase 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4580296" y="2063153"/>
            <a:ext cx="9687762" cy="7480897"/>
          </a:xfrm>
          <a:custGeom>
            <a:avLst/>
            <a:gdLst/>
            <a:ahLst/>
            <a:cxnLst/>
            <a:rect r="r" b="b" t="t" l="l"/>
            <a:pathLst>
              <a:path h="7480897" w="9687762">
                <a:moveTo>
                  <a:pt x="0" y="0"/>
                </a:moveTo>
                <a:lnTo>
                  <a:pt x="9687762" y="0"/>
                </a:lnTo>
                <a:lnTo>
                  <a:pt x="9687762" y="7480897"/>
                </a:lnTo>
                <a:lnTo>
                  <a:pt x="0" y="748089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53616" y="317626"/>
            <a:ext cx="8580769" cy="129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Grafico de avance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2538724" y="1547171"/>
            <a:ext cx="12926084" cy="8498900"/>
          </a:xfrm>
          <a:custGeom>
            <a:avLst/>
            <a:gdLst/>
            <a:ahLst/>
            <a:cxnLst/>
            <a:rect r="r" b="b" t="t" l="l"/>
            <a:pathLst>
              <a:path h="8498900" w="12926084">
                <a:moveTo>
                  <a:pt x="0" y="0"/>
                </a:moveTo>
                <a:lnTo>
                  <a:pt x="12926084" y="0"/>
                </a:lnTo>
                <a:lnTo>
                  <a:pt x="12926084" y="8498900"/>
                </a:lnTo>
                <a:lnTo>
                  <a:pt x="0" y="84989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4232" y="320363"/>
            <a:ext cx="16913858" cy="1226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Evidencias: Casos de uso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241836" y="1824332"/>
            <a:ext cx="10937004" cy="7245765"/>
          </a:xfrm>
          <a:custGeom>
            <a:avLst/>
            <a:gdLst/>
            <a:ahLst/>
            <a:cxnLst/>
            <a:rect r="r" b="b" t="t" l="l"/>
            <a:pathLst>
              <a:path h="7245765" w="10937004">
                <a:moveTo>
                  <a:pt x="0" y="0"/>
                </a:moveTo>
                <a:lnTo>
                  <a:pt x="10937005" y="0"/>
                </a:lnTo>
                <a:lnTo>
                  <a:pt x="10937005" y="7245766"/>
                </a:lnTo>
                <a:lnTo>
                  <a:pt x="0" y="7245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703" y="301922"/>
            <a:ext cx="12443497" cy="88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Evidencia: Diagrama de clases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91780" y="1092127"/>
            <a:ext cx="17704441" cy="8166173"/>
          </a:xfrm>
          <a:custGeom>
            <a:avLst/>
            <a:gdLst/>
            <a:ahLst/>
            <a:cxnLst/>
            <a:rect r="r" b="b" t="t" l="l"/>
            <a:pathLst>
              <a:path h="8166173" w="17704441">
                <a:moveTo>
                  <a:pt x="0" y="0"/>
                </a:moveTo>
                <a:lnTo>
                  <a:pt x="17704440" y="0"/>
                </a:lnTo>
                <a:lnTo>
                  <a:pt x="17704440" y="8166173"/>
                </a:lnTo>
                <a:lnTo>
                  <a:pt x="0" y="816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780" y="141583"/>
            <a:ext cx="12246209" cy="88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Evidencia: Modelo de Datos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7606581" y="25709"/>
            <a:ext cx="6997177" cy="8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48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is diagnostico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30218" y="369039"/>
            <a:ext cx="7461242" cy="9370476"/>
          </a:xfrm>
          <a:custGeom>
            <a:avLst/>
            <a:gdLst/>
            <a:ahLst/>
            <a:cxnLst/>
            <a:rect r="r" b="b" t="t" l="l"/>
            <a:pathLst>
              <a:path h="9370476" w="7461242">
                <a:moveTo>
                  <a:pt x="0" y="0"/>
                </a:moveTo>
                <a:lnTo>
                  <a:pt x="7461242" y="0"/>
                </a:lnTo>
                <a:lnTo>
                  <a:pt x="7461242" y="9370476"/>
                </a:lnTo>
                <a:lnTo>
                  <a:pt x="0" y="9370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67262" y="1228639"/>
            <a:ext cx="3872991" cy="2728698"/>
          </a:xfrm>
          <a:custGeom>
            <a:avLst/>
            <a:gdLst/>
            <a:ahLst/>
            <a:cxnLst/>
            <a:rect r="r" b="b" t="t" l="l"/>
            <a:pathLst>
              <a:path h="2728698" w="3872991">
                <a:moveTo>
                  <a:pt x="0" y="0"/>
                </a:moveTo>
                <a:lnTo>
                  <a:pt x="3872992" y="0"/>
                </a:lnTo>
                <a:lnTo>
                  <a:pt x="3872992" y="2728698"/>
                </a:lnTo>
                <a:lnTo>
                  <a:pt x="0" y="27286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91533" y="3197313"/>
            <a:ext cx="3534944" cy="2300927"/>
          </a:xfrm>
          <a:custGeom>
            <a:avLst/>
            <a:gdLst/>
            <a:ahLst/>
            <a:cxnLst/>
            <a:rect r="r" b="b" t="t" l="l"/>
            <a:pathLst>
              <a:path h="2300927" w="3534944">
                <a:moveTo>
                  <a:pt x="0" y="0"/>
                </a:moveTo>
                <a:lnTo>
                  <a:pt x="3534944" y="0"/>
                </a:lnTo>
                <a:lnTo>
                  <a:pt x="3534944" y="2300927"/>
                </a:lnTo>
                <a:lnTo>
                  <a:pt x="0" y="23009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663164" y="4631699"/>
            <a:ext cx="2839883" cy="2300927"/>
          </a:xfrm>
          <a:custGeom>
            <a:avLst/>
            <a:gdLst/>
            <a:ahLst/>
            <a:cxnLst/>
            <a:rect r="r" b="b" t="t" l="l"/>
            <a:pathLst>
              <a:path h="2300927" w="2839883">
                <a:moveTo>
                  <a:pt x="0" y="0"/>
                </a:moveTo>
                <a:lnTo>
                  <a:pt x="2839883" y="0"/>
                </a:lnTo>
                <a:lnTo>
                  <a:pt x="2839883" y="2300927"/>
                </a:lnTo>
                <a:lnTo>
                  <a:pt x="0" y="2300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33859" y="4347776"/>
            <a:ext cx="3011368" cy="2088872"/>
          </a:xfrm>
          <a:custGeom>
            <a:avLst/>
            <a:gdLst/>
            <a:ahLst/>
            <a:cxnLst/>
            <a:rect r="r" b="b" t="t" l="l"/>
            <a:pathLst>
              <a:path h="2088872" w="3011368">
                <a:moveTo>
                  <a:pt x="0" y="0"/>
                </a:moveTo>
                <a:lnTo>
                  <a:pt x="3011368" y="0"/>
                </a:lnTo>
                <a:lnTo>
                  <a:pt x="3011368" y="2088872"/>
                </a:lnTo>
                <a:lnTo>
                  <a:pt x="0" y="20888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52184" y="6657613"/>
            <a:ext cx="2652986" cy="1597821"/>
          </a:xfrm>
          <a:custGeom>
            <a:avLst/>
            <a:gdLst/>
            <a:ahLst/>
            <a:cxnLst/>
            <a:rect r="r" b="b" t="t" l="l"/>
            <a:pathLst>
              <a:path h="1597821" w="2652986">
                <a:moveTo>
                  <a:pt x="0" y="0"/>
                </a:moveTo>
                <a:lnTo>
                  <a:pt x="2652986" y="0"/>
                </a:lnTo>
                <a:lnTo>
                  <a:pt x="2652986" y="1597821"/>
                </a:lnTo>
                <a:lnTo>
                  <a:pt x="0" y="15978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895692" y="933450"/>
            <a:ext cx="2071385" cy="1408000"/>
          </a:xfrm>
          <a:custGeom>
            <a:avLst/>
            <a:gdLst/>
            <a:ahLst/>
            <a:cxnLst/>
            <a:rect r="r" b="b" t="t" l="l"/>
            <a:pathLst>
              <a:path h="1408000" w="2071385">
                <a:moveTo>
                  <a:pt x="0" y="0"/>
                </a:moveTo>
                <a:lnTo>
                  <a:pt x="2071384" y="0"/>
                </a:lnTo>
                <a:lnTo>
                  <a:pt x="2071384" y="1408000"/>
                </a:lnTo>
                <a:lnTo>
                  <a:pt x="0" y="1408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95692" y="2379550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guardia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54933" y="5525045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coordinador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30669" y="3955538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guardia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114543" y="6474276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coordinador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8290" y="6875476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coordinador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86627" y="8293534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de taller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49381" y="938182"/>
            <a:ext cx="9408515" cy="7432727"/>
          </a:xfrm>
          <a:custGeom>
            <a:avLst/>
            <a:gdLst/>
            <a:ahLst/>
            <a:cxnLst/>
            <a:rect r="r" b="b" t="t" l="l"/>
            <a:pathLst>
              <a:path h="7432727" w="9408515">
                <a:moveTo>
                  <a:pt x="0" y="0"/>
                </a:moveTo>
                <a:lnTo>
                  <a:pt x="9408515" y="0"/>
                </a:lnTo>
                <a:lnTo>
                  <a:pt x="9408515" y="7432727"/>
                </a:lnTo>
                <a:lnTo>
                  <a:pt x="0" y="7432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72678" y="-19385"/>
            <a:ext cx="7571322" cy="8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48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be diagnostico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23003" y="2092746"/>
            <a:ext cx="7664997" cy="538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Notificar a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gendamiento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Mostrar horarios disponibles 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Validar entrada nfc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Genera informes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Pueden subir informacion dependiendo el rol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 entrada y salida de vehiculos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488109" y="901706"/>
            <a:ext cx="5361671" cy="88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realiza: 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9757896" y="1503953"/>
            <a:ext cx="1492748" cy="861839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85058" y="240901"/>
            <a:ext cx="8712099" cy="9693573"/>
          </a:xfrm>
          <a:custGeom>
            <a:avLst/>
            <a:gdLst/>
            <a:ahLst/>
            <a:cxnLst/>
            <a:rect r="r" b="b" t="t" l="l"/>
            <a:pathLst>
              <a:path h="9693573" w="8712099">
                <a:moveTo>
                  <a:pt x="0" y="0"/>
                </a:moveTo>
                <a:lnTo>
                  <a:pt x="8712099" y="0"/>
                </a:lnTo>
                <a:lnTo>
                  <a:pt x="8712099" y="9693573"/>
                </a:lnTo>
                <a:lnTo>
                  <a:pt x="0" y="969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67847" y="2280593"/>
            <a:ext cx="3806081" cy="2034789"/>
          </a:xfrm>
          <a:custGeom>
            <a:avLst/>
            <a:gdLst/>
            <a:ahLst/>
            <a:cxnLst/>
            <a:rect r="r" b="b" t="t" l="l"/>
            <a:pathLst>
              <a:path h="2034789" w="3806081">
                <a:moveTo>
                  <a:pt x="0" y="0"/>
                </a:moveTo>
                <a:lnTo>
                  <a:pt x="3806081" y="0"/>
                </a:lnTo>
                <a:lnTo>
                  <a:pt x="3806081" y="2034790"/>
                </a:lnTo>
                <a:lnTo>
                  <a:pt x="0" y="20347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46300" y="4281722"/>
            <a:ext cx="3450781" cy="3329465"/>
          </a:xfrm>
          <a:custGeom>
            <a:avLst/>
            <a:gdLst/>
            <a:ahLst/>
            <a:cxnLst/>
            <a:rect r="r" b="b" t="t" l="l"/>
            <a:pathLst>
              <a:path h="3329465" w="3450781">
                <a:moveTo>
                  <a:pt x="0" y="0"/>
                </a:moveTo>
                <a:lnTo>
                  <a:pt x="3450781" y="0"/>
                </a:lnTo>
                <a:lnTo>
                  <a:pt x="3450781" y="3329465"/>
                </a:lnTo>
                <a:lnTo>
                  <a:pt x="0" y="3329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61893" y="5875426"/>
            <a:ext cx="2357526" cy="1735761"/>
          </a:xfrm>
          <a:custGeom>
            <a:avLst/>
            <a:gdLst/>
            <a:ahLst/>
            <a:cxnLst/>
            <a:rect r="r" b="b" t="t" l="l"/>
            <a:pathLst>
              <a:path h="1735761" w="2357526">
                <a:moveTo>
                  <a:pt x="0" y="0"/>
                </a:moveTo>
                <a:lnTo>
                  <a:pt x="2357526" y="0"/>
                </a:lnTo>
                <a:lnTo>
                  <a:pt x="2357526" y="1735761"/>
                </a:lnTo>
                <a:lnTo>
                  <a:pt x="0" y="17357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45654" y="155176"/>
            <a:ext cx="4559281" cy="166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48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is reparacion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74662" y="4024604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jefe de taller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20525" y="7667007"/>
            <a:ext cx="2144757" cy="45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64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mecanico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67847" y="7667315"/>
            <a:ext cx="1606903" cy="456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0"/>
              </a:lnSpc>
              <a:spcBef>
                <a:spcPct val="0"/>
              </a:spcBef>
            </a:pPr>
            <a:r>
              <a:rPr lang="en-US" b="true" sz="2643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mecanico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65849" y="1028700"/>
            <a:ext cx="8438915" cy="8989524"/>
          </a:xfrm>
          <a:custGeom>
            <a:avLst/>
            <a:gdLst/>
            <a:ahLst/>
            <a:cxnLst/>
            <a:rect r="r" b="b" t="t" l="l"/>
            <a:pathLst>
              <a:path h="8989524" w="8438915">
                <a:moveTo>
                  <a:pt x="0" y="0"/>
                </a:moveTo>
                <a:lnTo>
                  <a:pt x="8438916" y="0"/>
                </a:lnTo>
                <a:lnTo>
                  <a:pt x="8438916" y="8989524"/>
                </a:lnTo>
                <a:lnTo>
                  <a:pt x="0" y="898952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98962" y="101068"/>
            <a:ext cx="6720291" cy="812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48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be Reparacion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67230" y="3599362"/>
            <a:ext cx="7749095" cy="2231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43686" indent="-271843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Valida datos chofer</a:t>
            </a:r>
          </a:p>
          <a:p>
            <a:pPr algn="just" marL="543686" indent="-271843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Subir info</a:t>
            </a: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rmacion de diferentes perfiles</a:t>
            </a:r>
          </a:p>
          <a:p>
            <a:pPr algn="just" marL="543686" indent="-271843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Notificar cualquier cambio dependiendo el perfil</a:t>
            </a:r>
          </a:p>
          <a:p>
            <a:pPr algn="just" marL="543686" indent="-271843" lvl="1">
              <a:lnSpc>
                <a:spcPts val="3525"/>
              </a:lnSpc>
              <a:buFont typeface="Arial"/>
              <a:buChar char="•"/>
            </a:pPr>
            <a:r>
              <a:rPr lang="en-US" sz="251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Comunicar seguimiento o termino de OT</a:t>
            </a:r>
          </a:p>
          <a:p>
            <a:pPr algn="just">
              <a:lnSpc>
                <a:spcPts val="352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722477" y="2556520"/>
            <a:ext cx="5190133" cy="88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realiza:</a:t>
            </a:r>
          </a:p>
        </p:txBody>
      </p:sp>
      <p:sp>
        <p:nvSpPr>
          <p:cNvPr name="AutoShape 13" id="13"/>
          <p:cNvSpPr/>
          <p:nvPr/>
        </p:nvSpPr>
        <p:spPr>
          <a:xfrm>
            <a:off x="8497618" y="2651770"/>
            <a:ext cx="1768784" cy="395934"/>
          </a:xfrm>
          <a:prstGeom prst="line">
            <a:avLst/>
          </a:prstGeom>
          <a:ln cap="flat" w="38100">
            <a:solidFill>
              <a:srgbClr val="FF3131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14827993" y="-1392447"/>
            <a:ext cx="4017146" cy="3158481"/>
          </a:xfrm>
          <a:custGeom>
            <a:avLst/>
            <a:gdLst/>
            <a:ahLst/>
            <a:cxnLst/>
            <a:rect r="r" b="b" t="t" l="l"/>
            <a:pathLst>
              <a:path h="3158481" w="4017146">
                <a:moveTo>
                  <a:pt x="0" y="0"/>
                </a:moveTo>
                <a:lnTo>
                  <a:pt x="4017147" y="0"/>
                </a:lnTo>
                <a:lnTo>
                  <a:pt x="4017147" y="3158481"/>
                </a:lnTo>
                <a:lnTo>
                  <a:pt x="0" y="3158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80296" y="-1616873"/>
            <a:ext cx="4224468" cy="2645573"/>
          </a:xfrm>
          <a:custGeom>
            <a:avLst/>
            <a:gdLst/>
            <a:ahLst/>
            <a:cxnLst/>
            <a:rect r="r" b="b" t="t" l="l"/>
            <a:pathLst>
              <a:path h="2645573" w="4224468">
                <a:moveTo>
                  <a:pt x="0" y="0"/>
                </a:moveTo>
                <a:lnTo>
                  <a:pt x="4224469" y="0"/>
                </a:lnTo>
                <a:lnTo>
                  <a:pt x="4224469" y="2645573"/>
                </a:lnTo>
                <a:lnTo>
                  <a:pt x="0" y="2645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27486" y="9544050"/>
            <a:ext cx="3169280" cy="2226419"/>
          </a:xfrm>
          <a:custGeom>
            <a:avLst/>
            <a:gdLst/>
            <a:ahLst/>
            <a:cxnLst/>
            <a:rect r="r" b="b" t="t" l="l"/>
            <a:pathLst>
              <a:path h="2226419" w="3169280">
                <a:moveTo>
                  <a:pt x="0" y="0"/>
                </a:moveTo>
                <a:lnTo>
                  <a:pt x="3169280" y="0"/>
                </a:lnTo>
                <a:lnTo>
                  <a:pt x="3169280" y="2226419"/>
                </a:lnTo>
                <a:lnTo>
                  <a:pt x="0" y="22264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0735747" y="9530780"/>
            <a:ext cx="2892762" cy="2919301"/>
          </a:xfrm>
          <a:custGeom>
            <a:avLst/>
            <a:gdLst/>
            <a:ahLst/>
            <a:cxnLst/>
            <a:rect r="r" b="b" t="t" l="l"/>
            <a:pathLst>
              <a:path h="2919301" w="2892762">
                <a:moveTo>
                  <a:pt x="0" y="0"/>
                </a:moveTo>
                <a:lnTo>
                  <a:pt x="2892761" y="0"/>
                </a:lnTo>
                <a:lnTo>
                  <a:pt x="2892761" y="2919301"/>
                </a:lnTo>
                <a:lnTo>
                  <a:pt x="0" y="29193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-1558320" y="9093737"/>
            <a:ext cx="2587020" cy="2386526"/>
          </a:xfrm>
          <a:custGeom>
            <a:avLst/>
            <a:gdLst/>
            <a:ahLst/>
            <a:cxnLst/>
            <a:rect r="r" b="b" t="t" l="l"/>
            <a:pathLst>
              <a:path h="2386526" w="2587020">
                <a:moveTo>
                  <a:pt x="0" y="0"/>
                </a:moveTo>
                <a:lnTo>
                  <a:pt x="2587020" y="0"/>
                </a:lnTo>
                <a:lnTo>
                  <a:pt x="2587020" y="2386526"/>
                </a:lnTo>
                <a:lnTo>
                  <a:pt x="0" y="238652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7433853"/>
            <a:ext cx="1794966" cy="1932669"/>
          </a:xfrm>
          <a:custGeom>
            <a:avLst/>
            <a:gdLst/>
            <a:ahLst/>
            <a:cxnLst/>
            <a:rect r="r" b="b" t="t" l="l"/>
            <a:pathLst>
              <a:path h="1932669" w="1794966">
                <a:moveTo>
                  <a:pt x="0" y="0"/>
                </a:moveTo>
                <a:lnTo>
                  <a:pt x="1794966" y="0"/>
                </a:lnTo>
                <a:lnTo>
                  <a:pt x="1794966" y="1932669"/>
                </a:lnTo>
                <a:lnTo>
                  <a:pt x="0" y="19326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-744232" y="460501"/>
            <a:ext cx="1488463" cy="1602652"/>
          </a:xfrm>
          <a:custGeom>
            <a:avLst/>
            <a:gdLst/>
            <a:ahLst/>
            <a:cxnLst/>
            <a:rect r="r" b="b" t="t" l="l"/>
            <a:pathLst>
              <a:path h="1602652" w="1488463">
                <a:moveTo>
                  <a:pt x="0" y="0"/>
                </a:moveTo>
                <a:lnTo>
                  <a:pt x="1488464" y="0"/>
                </a:lnTo>
                <a:lnTo>
                  <a:pt x="1488464" y="1602652"/>
                </a:lnTo>
                <a:lnTo>
                  <a:pt x="0" y="1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974826" y="1414894"/>
            <a:ext cx="16284474" cy="8712194"/>
          </a:xfrm>
          <a:custGeom>
            <a:avLst/>
            <a:gdLst/>
            <a:ahLst/>
            <a:cxnLst/>
            <a:rect r="r" b="b" t="t" l="l"/>
            <a:pathLst>
              <a:path h="8712194" w="16284474">
                <a:moveTo>
                  <a:pt x="0" y="0"/>
                </a:moveTo>
                <a:lnTo>
                  <a:pt x="16284474" y="0"/>
                </a:lnTo>
                <a:lnTo>
                  <a:pt x="16284474" y="8712193"/>
                </a:lnTo>
                <a:lnTo>
                  <a:pt x="0" y="871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53511" y="336676"/>
            <a:ext cx="15183055" cy="107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</a:pPr>
            <a:r>
              <a:rPr lang="en-US" sz="63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Evidencias: Diagrama componentes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50786" y="2899976"/>
            <a:ext cx="11301259" cy="5904908"/>
          </a:xfrm>
          <a:custGeom>
            <a:avLst/>
            <a:gdLst/>
            <a:ahLst/>
            <a:cxnLst/>
            <a:rect r="r" b="b" t="t" l="l"/>
            <a:pathLst>
              <a:path h="5904908" w="11301259">
                <a:moveTo>
                  <a:pt x="0" y="0"/>
                </a:moveTo>
                <a:lnTo>
                  <a:pt x="11301259" y="0"/>
                </a:lnTo>
                <a:lnTo>
                  <a:pt x="11301259" y="5904908"/>
                </a:lnTo>
                <a:lnTo>
                  <a:pt x="0" y="5904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3309" y="398907"/>
            <a:ext cx="15611745" cy="2289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89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Evidencia: Diagrama de despliegue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884986"/>
            <a:ext cx="6613433" cy="41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36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Comunicación cliente → backend → BD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00649" y="2120387"/>
            <a:ext cx="7643404" cy="109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3"/>
              </a:lnSpc>
            </a:pPr>
            <a:r>
              <a:rPr lang="en-US" sz="2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platafo</a:t>
            </a:r>
            <a:r>
              <a:rPr lang="en-US" sz="2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rma implementa una Arquitectura de Capas que se refleja en este despliegue: Frontend (Presentación), Backend (Lógica) y Base de Datos (Datos)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0453" y="659756"/>
            <a:ext cx="12078682" cy="117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9"/>
              </a:lnSpc>
            </a:pPr>
            <a:r>
              <a:rPr lang="en-US" sz="68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Flujo completo de una OT</a:t>
            </a:r>
          </a:p>
        </p:txBody>
      </p:sp>
      <p:sp>
        <p:nvSpPr>
          <p:cNvPr name="AutoShape 3" id="3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80824" y="1838039"/>
          <a:ext cx="15604480" cy="7600950"/>
        </p:xfrm>
        <a:graphic>
          <a:graphicData uri="http://schemas.openxmlformats.org/drawingml/2006/table">
            <a:tbl>
              <a:tblPr/>
              <a:tblGrid>
                <a:gridCol w="6031749"/>
                <a:gridCol w="4797002"/>
                <a:gridCol w="4775729"/>
              </a:tblGrid>
              <a:tr h="746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Etapa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Acción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Rol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746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toma de hora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 b="true">
                          <a:solidFill>
                            <a:srgbClr val="000000"/>
                          </a:solidFill>
                          <a:latin typeface="Montserrat Bold"/>
                          <a:ea typeface="Montserrat Bold"/>
                          <a:cs typeface="Montserrat Bold"/>
                          <a:sym typeface="Montserrat Bold"/>
                        </a:rPr>
                        <a:t>Toma hora para diagnostico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Chofer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6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ingreso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Verifica solicitud y valida o rechaza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Coordinador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8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diagnostico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Recibe OT y realiza checklist, Agenda hora reparacion y asigna mecanicos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Jefe de taller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8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validacion y asignascion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Valida informacion y Aprueba o rechaza solicitud de agendamiento de reparacion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Supervisor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38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Recibe OT y registra avance reparacion y marca finalizacion de 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Mecanico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Verifica llegada de vehiculo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guardia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Ejecución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Verifica Ot y hace cierre tecnico de 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jefe de taller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66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Salida del Vehículo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Registra salida del vehículo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18"/>
                        </a:lnSpc>
                        <a:defRPr/>
                      </a:pPr>
                      <a:r>
                        <a:rPr lang="en-US" sz="1656">
                          <a:solidFill>
                            <a:srgbClr val="00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Guardia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76161" y="2359407"/>
            <a:ext cx="16024831" cy="7151081"/>
          </a:xfrm>
          <a:custGeom>
            <a:avLst/>
            <a:gdLst/>
            <a:ahLst/>
            <a:cxnLst/>
            <a:rect r="r" b="b" t="t" l="l"/>
            <a:pathLst>
              <a:path h="7151081" w="16024831">
                <a:moveTo>
                  <a:pt x="0" y="0"/>
                </a:moveTo>
                <a:lnTo>
                  <a:pt x="16024830" y="0"/>
                </a:lnTo>
                <a:lnTo>
                  <a:pt x="16024830" y="7151081"/>
                </a:lnTo>
                <a:lnTo>
                  <a:pt x="0" y="71510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631181"/>
            <a:ext cx="15533203" cy="150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06"/>
              </a:lnSpc>
            </a:pPr>
            <a:r>
              <a:rPr lang="en-US" sz="879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Unitarias -Vitest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807808" y="6588736"/>
            <a:ext cx="10675972" cy="2962582"/>
          </a:xfrm>
          <a:custGeom>
            <a:avLst/>
            <a:gdLst/>
            <a:ahLst/>
            <a:cxnLst/>
            <a:rect r="r" b="b" t="t" l="l"/>
            <a:pathLst>
              <a:path h="2962582" w="10675972">
                <a:moveTo>
                  <a:pt x="0" y="0"/>
                </a:moveTo>
                <a:lnTo>
                  <a:pt x="10675971" y="0"/>
                </a:lnTo>
                <a:lnTo>
                  <a:pt x="10675971" y="2962582"/>
                </a:lnTo>
                <a:lnTo>
                  <a:pt x="0" y="2962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0553" y="2384560"/>
            <a:ext cx="7986366" cy="4372536"/>
          </a:xfrm>
          <a:custGeom>
            <a:avLst/>
            <a:gdLst/>
            <a:ahLst/>
            <a:cxnLst/>
            <a:rect r="r" b="b" t="t" l="l"/>
            <a:pathLst>
              <a:path h="4372536" w="7986366">
                <a:moveTo>
                  <a:pt x="0" y="0"/>
                </a:moveTo>
                <a:lnTo>
                  <a:pt x="7986367" y="0"/>
                </a:lnTo>
                <a:lnTo>
                  <a:pt x="7986367" y="4372536"/>
                </a:lnTo>
                <a:lnTo>
                  <a:pt x="0" y="437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69281"/>
            <a:ext cx="15533203" cy="111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86"/>
              </a:lnSpc>
            </a:pPr>
            <a:r>
              <a:rPr lang="en-US" sz="649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de seguridad-OWASP ZAP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95301" y="3083464"/>
            <a:ext cx="8694293" cy="2154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0209" indent="-220104" lvl="1">
              <a:lnSpc>
                <a:spcPts val="2854"/>
              </a:lnSpc>
              <a:buAutoNum type="arabicPeriod" startAt="1"/>
            </a:pPr>
            <a:r>
              <a:rPr lang="en-US" sz="20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 vulnerabilidades de riesgo alto</a:t>
            </a:r>
          </a:p>
          <a:p>
            <a:pPr algn="just" marL="440209" indent="-220104" lvl="1">
              <a:lnSpc>
                <a:spcPts val="2854"/>
              </a:lnSpc>
              <a:buAutoNum type="arabicPeriod" startAt="1"/>
            </a:pPr>
            <a:r>
              <a:rPr lang="en-US" sz="20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Alertas de riesgo medio relacionadas con CSP en desarrollo (necesarias para Vite y Tailwind)</a:t>
            </a:r>
          </a:p>
          <a:p>
            <a:pPr algn="just" marL="440209" indent="-220104" lvl="1">
              <a:lnSpc>
                <a:spcPts val="2854"/>
              </a:lnSpc>
              <a:buAutoNum type="arabicPeriod" startAt="1"/>
            </a:pPr>
            <a:r>
              <a:rPr lang="en-US" sz="20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Headers de seguridad implementados correctamente</a:t>
            </a:r>
          </a:p>
          <a:p>
            <a:pPr algn="just" marL="440209" indent="-220104" lvl="1">
              <a:lnSpc>
                <a:spcPts val="2854"/>
              </a:lnSpc>
              <a:buAutoNum type="arabicPeriod" startAt="1"/>
            </a:pPr>
            <a:r>
              <a:rPr lang="en-US" sz="203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Alertas informativas no representan riesgos de seguridad</a:t>
            </a:r>
          </a:p>
          <a:p>
            <a:pPr algn="just">
              <a:lnSpc>
                <a:spcPts val="2854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75409" y="2327369"/>
            <a:ext cx="7868591" cy="3058915"/>
          </a:xfrm>
          <a:custGeom>
            <a:avLst/>
            <a:gdLst/>
            <a:ahLst/>
            <a:cxnLst/>
            <a:rect r="r" b="b" t="t" l="l"/>
            <a:pathLst>
              <a:path h="3058915" w="7868591">
                <a:moveTo>
                  <a:pt x="0" y="0"/>
                </a:moveTo>
                <a:lnTo>
                  <a:pt x="7868591" y="0"/>
                </a:lnTo>
                <a:lnTo>
                  <a:pt x="7868591" y="3058915"/>
                </a:lnTo>
                <a:lnTo>
                  <a:pt x="0" y="30589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05512" y="2327369"/>
            <a:ext cx="7653788" cy="2918007"/>
          </a:xfrm>
          <a:custGeom>
            <a:avLst/>
            <a:gdLst/>
            <a:ahLst/>
            <a:cxnLst/>
            <a:rect r="r" b="b" t="t" l="l"/>
            <a:pathLst>
              <a:path h="2918007" w="7653788">
                <a:moveTo>
                  <a:pt x="0" y="0"/>
                </a:moveTo>
                <a:lnTo>
                  <a:pt x="7653788" y="0"/>
                </a:lnTo>
                <a:lnTo>
                  <a:pt x="7653788" y="2918007"/>
                </a:lnTo>
                <a:lnTo>
                  <a:pt x="0" y="2918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56539" y="5929209"/>
            <a:ext cx="10097947" cy="3596932"/>
          </a:xfrm>
          <a:custGeom>
            <a:avLst/>
            <a:gdLst/>
            <a:ahLst/>
            <a:cxnLst/>
            <a:rect r="r" b="b" t="t" l="l"/>
            <a:pathLst>
              <a:path h="3596932" w="10097947">
                <a:moveTo>
                  <a:pt x="0" y="0"/>
                </a:moveTo>
                <a:lnTo>
                  <a:pt x="10097946" y="0"/>
                </a:lnTo>
                <a:lnTo>
                  <a:pt x="10097946" y="3596932"/>
                </a:lnTo>
                <a:lnTo>
                  <a:pt x="0" y="35969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593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07381"/>
            <a:ext cx="15533203" cy="84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Pruebas de Casos de Uso - Caja Negra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1651" y="1708901"/>
            <a:ext cx="4516107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254C5"/>
                </a:solidFill>
                <a:latin typeface="Open Sans"/>
                <a:ea typeface="Open Sans"/>
                <a:cs typeface="Open Sans"/>
                <a:sym typeface="Open Sans"/>
              </a:rPr>
              <a:t>CU3</a:t>
            </a:r>
            <a:r>
              <a:rPr lang="en-US" sz="3399">
                <a:solidFill>
                  <a:srgbClr val="2254C5"/>
                </a:solidFill>
                <a:latin typeface="Open Sans"/>
                <a:ea typeface="Open Sans"/>
                <a:cs typeface="Open Sans"/>
                <a:sym typeface="Open Sans"/>
              </a:rPr>
              <a:t> INICIO DE SESIÓN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05512" y="1708901"/>
            <a:ext cx="7653788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254C5"/>
                </a:solidFill>
                <a:latin typeface="Open Sans"/>
                <a:ea typeface="Open Sans"/>
                <a:cs typeface="Open Sans"/>
                <a:sym typeface="Open Sans"/>
              </a:rPr>
              <a:t>CU1</a:t>
            </a:r>
            <a:r>
              <a:rPr lang="en-US" sz="3399">
                <a:solidFill>
                  <a:srgbClr val="2254C5"/>
                </a:solidFill>
                <a:latin typeface="Open Sans"/>
                <a:ea typeface="Open Sans"/>
                <a:cs typeface="Open Sans"/>
                <a:sym typeface="Open Sans"/>
              </a:rPr>
              <a:t> REGISTRO DE USUARIOS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63647" y="5334225"/>
            <a:ext cx="10097947" cy="580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2254C5"/>
                </a:solidFill>
                <a:latin typeface="Open Sans"/>
                <a:ea typeface="Open Sans"/>
                <a:cs typeface="Open Sans"/>
                <a:sym typeface="Open Sans"/>
              </a:rPr>
              <a:t>CU2</a:t>
            </a:r>
            <a:r>
              <a:rPr lang="en-US" sz="3399">
                <a:solidFill>
                  <a:srgbClr val="2254C5"/>
                </a:solidFill>
                <a:latin typeface="Open Sans"/>
                <a:ea typeface="Open Sans"/>
                <a:cs typeface="Open Sans"/>
                <a:sym typeface="Open Sans"/>
              </a:rPr>
              <a:t> REGISTRO DE VEHÍCULOS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225872" y="1607968"/>
            <a:ext cx="6599311" cy="4025580"/>
          </a:xfrm>
          <a:custGeom>
            <a:avLst/>
            <a:gdLst/>
            <a:ahLst/>
            <a:cxnLst/>
            <a:rect r="r" b="b" t="t" l="l"/>
            <a:pathLst>
              <a:path h="4025580" w="6599311">
                <a:moveTo>
                  <a:pt x="0" y="0"/>
                </a:moveTo>
                <a:lnTo>
                  <a:pt x="6599311" y="0"/>
                </a:lnTo>
                <a:lnTo>
                  <a:pt x="6599311" y="4025580"/>
                </a:lnTo>
                <a:lnTo>
                  <a:pt x="0" y="4025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6263" y="6051568"/>
            <a:ext cx="11301259" cy="3206732"/>
          </a:xfrm>
          <a:custGeom>
            <a:avLst/>
            <a:gdLst/>
            <a:ahLst/>
            <a:cxnLst/>
            <a:rect r="r" b="b" t="t" l="l"/>
            <a:pathLst>
              <a:path h="3206732" w="11301259">
                <a:moveTo>
                  <a:pt x="0" y="0"/>
                </a:moveTo>
                <a:lnTo>
                  <a:pt x="11301259" y="0"/>
                </a:lnTo>
                <a:lnTo>
                  <a:pt x="11301259" y="3206732"/>
                </a:lnTo>
                <a:lnTo>
                  <a:pt x="0" y="3206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77101" y="1967529"/>
            <a:ext cx="9182199" cy="3328547"/>
          </a:xfrm>
          <a:custGeom>
            <a:avLst/>
            <a:gdLst/>
            <a:ahLst/>
            <a:cxnLst/>
            <a:rect r="r" b="b" t="t" l="l"/>
            <a:pathLst>
              <a:path h="3328547" w="9182199">
                <a:moveTo>
                  <a:pt x="0" y="0"/>
                </a:moveTo>
                <a:lnTo>
                  <a:pt x="9182199" y="0"/>
                </a:lnTo>
                <a:lnTo>
                  <a:pt x="9182199" y="3328547"/>
                </a:lnTo>
                <a:lnTo>
                  <a:pt x="0" y="33285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70071" y="6406046"/>
            <a:ext cx="5389229" cy="2189374"/>
          </a:xfrm>
          <a:custGeom>
            <a:avLst/>
            <a:gdLst/>
            <a:ahLst/>
            <a:cxnLst/>
            <a:rect r="r" b="b" t="t" l="l"/>
            <a:pathLst>
              <a:path h="2189374" w="5389229">
                <a:moveTo>
                  <a:pt x="0" y="0"/>
                </a:moveTo>
                <a:lnTo>
                  <a:pt x="5389229" y="0"/>
                </a:lnTo>
                <a:lnTo>
                  <a:pt x="5389229" y="2189374"/>
                </a:lnTo>
                <a:lnTo>
                  <a:pt x="0" y="21893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7801" y="183929"/>
            <a:ext cx="10257935" cy="844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6"/>
              </a:lnSpc>
            </a:pPr>
            <a:r>
              <a:rPr lang="en-US" sz="499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Trabajo Colaboratibo github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225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63833"/>
            <a:ext cx="13059340" cy="2488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5"/>
              </a:lnSpc>
            </a:pPr>
            <a:r>
              <a:rPr lang="en-US" sz="1453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Cierre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448290"/>
            <a:ext cx="7475482" cy="341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Competencias Desarrolladas:</a:t>
            </a:r>
          </a:p>
          <a:p>
            <a:pPr algn="l">
              <a:lnSpc>
                <a:spcPts val="3406"/>
              </a:lnSpc>
            </a:pP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Desarrollo de Software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Bases de Datos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Arquitectura de Software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Gestión de Proyectos TI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Experiencia de Usuario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Seguridad de Datos</a:t>
            </a:r>
          </a:p>
        </p:txBody>
      </p:sp>
      <p:sp>
        <p:nvSpPr>
          <p:cNvPr name="AutoShape 4" id="4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1850061" y="793106"/>
            <a:ext cx="697692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9783818" y="3412279"/>
            <a:ext cx="7475482" cy="255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Proyección Profesional</a:t>
            </a:r>
          </a:p>
          <a:p>
            <a:pPr algn="l">
              <a:lnSpc>
                <a:spcPts val="3406"/>
              </a:lnSpc>
            </a:pP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Interés reforzado en desarrollo web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Metas: full stack, cloud, automatización</a:t>
            </a:r>
          </a:p>
          <a:p>
            <a:pPr algn="l" marL="525374" indent="-262687" lvl="1">
              <a:lnSpc>
                <a:spcPts val="3406"/>
              </a:lnSpc>
              <a:buFont typeface="Arial"/>
              <a:buChar char="•"/>
            </a:pPr>
            <a:r>
              <a:rPr lang="en-US" sz="24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Enfoque laboral: desarrollo, soporte avanzado, soluciones cloud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58370" y="8400565"/>
            <a:ext cx="10473409" cy="1139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53"/>
              </a:lnSpc>
            </a:pPr>
            <a:r>
              <a:rPr lang="en-US" sz="66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 por su atención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1850061" y="793106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502855" y="3434236"/>
            <a:ext cx="13729377" cy="6285442"/>
          </a:xfrm>
          <a:custGeom>
            <a:avLst/>
            <a:gdLst/>
            <a:ahLst/>
            <a:cxnLst/>
            <a:rect r="r" b="b" t="t" l="l"/>
            <a:pathLst>
              <a:path h="6285442" w="13729377">
                <a:moveTo>
                  <a:pt x="0" y="0"/>
                </a:moveTo>
                <a:lnTo>
                  <a:pt x="13729376" y="0"/>
                </a:lnTo>
                <a:lnTo>
                  <a:pt x="13729376" y="6285442"/>
                </a:lnTo>
                <a:lnTo>
                  <a:pt x="0" y="6285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263" t="-42915" r="-22480" b="-31835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52243" y="885825"/>
            <a:ext cx="16230600" cy="254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06"/>
              </a:lnSpc>
            </a:pPr>
            <a:r>
              <a:rPr lang="en-US" sz="729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DEMOSTRACION PLATAFORMA</a:t>
            </a:r>
          </a:p>
          <a:p>
            <a:pPr algn="ctr">
              <a:lnSpc>
                <a:spcPts val="10206"/>
              </a:lnSpc>
            </a:pPr>
            <a:r>
              <a:rPr lang="en-US" b="true" sz="7290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PepsiCo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DAG4_O9mcKk</dc:identifier>
  <dcterms:modified xsi:type="dcterms:W3CDTF">2011-08-01T06:04:30Z</dcterms:modified>
  <cp:revision>1</cp:revision>
  <dc:title>Presentación Proyecto 2.0</dc:title>
</cp:coreProperties>
</file>