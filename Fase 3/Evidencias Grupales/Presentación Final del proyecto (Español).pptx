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Montserrat" panose="00000500000000000000" pitchFamily="2" charset="0"/>
      <p:regular r:id="rId22"/>
    </p:embeddedFont>
    <p:embeddedFont>
      <p:font typeface="Montserrat Bold" panose="00000800000000000000" charset="0"/>
      <p:regular r:id="rId23"/>
    </p:embeddedFont>
    <p:embeddedFont>
      <p:font typeface="Montserrat Heavy" panose="020B0604020202020204" charset="0"/>
      <p:regular r:id="rId24"/>
    </p:embeddedFont>
    <p:embeddedFont>
      <p:font typeface="Montserrat Medium" panose="00000600000000000000" pitchFamily="2" charset="0"/>
      <p:regular r:id="rId25"/>
    </p:embeddedFont>
    <p:embeddedFont>
      <p:font typeface="Montserrat Semi-Bold" panose="020B0604020202020204" charset="0"/>
      <p:regular r:id="rId26"/>
    </p:embeddedFont>
    <p:embeddedFont>
      <p:font typeface="Montserrat Ultra-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svg"/><Relationship Id="rId7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991683"/>
            <a:chOff x="0" y="0"/>
            <a:chExt cx="24411027" cy="146718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1051" cy="14671802"/>
            </a:xfrm>
            <a:custGeom>
              <a:avLst/>
              <a:gdLst/>
              <a:ahLst/>
              <a:cxnLst/>
              <a:rect l="l" t="t" r="r" b="b"/>
              <a:pathLst>
                <a:path w="24411051" h="14671802">
                  <a:moveTo>
                    <a:pt x="0" y="0"/>
                  </a:moveTo>
                  <a:lnTo>
                    <a:pt x="24411051" y="0"/>
                  </a:lnTo>
                  <a:lnTo>
                    <a:pt x="24411051" y="14671802"/>
                  </a:lnTo>
                  <a:lnTo>
                    <a:pt x="0" y="1467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514350" y="-514350"/>
            <a:ext cx="19224393" cy="11114424"/>
            <a:chOff x="0" y="0"/>
            <a:chExt cx="5063215" cy="29272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63215" cy="2927256"/>
            </a:xfrm>
            <a:custGeom>
              <a:avLst/>
              <a:gdLst/>
              <a:ahLst/>
              <a:cxnLst/>
              <a:rect l="l" t="t" r="r" b="b"/>
              <a:pathLst>
                <a:path w="5063215" h="2927256">
                  <a:moveTo>
                    <a:pt x="0" y="0"/>
                  </a:moveTo>
                  <a:lnTo>
                    <a:pt x="5063215" y="0"/>
                  </a:lnTo>
                  <a:lnTo>
                    <a:pt x="5063215" y="2927256"/>
                  </a:lnTo>
                  <a:lnTo>
                    <a:pt x="0" y="2927256"/>
                  </a:lnTo>
                  <a:close/>
                </a:path>
              </a:pathLst>
            </a:custGeom>
            <a:solidFill>
              <a:srgbClr val="151F28">
                <a:alpha val="71765"/>
              </a:srgbClr>
            </a:solid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063215" cy="2965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20328" y="474230"/>
            <a:ext cx="5134347" cy="1446000"/>
            <a:chOff x="0" y="0"/>
            <a:chExt cx="5659953" cy="15940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60009" cy="1593977"/>
            </a:xfrm>
            <a:custGeom>
              <a:avLst/>
              <a:gdLst/>
              <a:ahLst/>
              <a:cxnLst/>
              <a:rect l="l" t="t" r="r" b="b"/>
              <a:pathLst>
                <a:path w="5660009" h="1593977">
                  <a:moveTo>
                    <a:pt x="0" y="0"/>
                  </a:moveTo>
                  <a:lnTo>
                    <a:pt x="5660009" y="0"/>
                  </a:lnTo>
                  <a:lnTo>
                    <a:pt x="5660009" y="1593977"/>
                  </a:lnTo>
                  <a:lnTo>
                    <a:pt x="0" y="1593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8590" r="-10912" b="-14524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578748" y="3639980"/>
            <a:ext cx="11038197" cy="2586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9"/>
              </a:lnSpc>
            </a:pPr>
            <a:r>
              <a:rPr lang="en-US" sz="7399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SISTEMA DE GESTIÓN </a:t>
            </a:r>
          </a:p>
          <a:p>
            <a:pPr algn="ctr">
              <a:lnSpc>
                <a:spcPts val="6659"/>
              </a:lnSpc>
            </a:pPr>
            <a:r>
              <a:rPr lang="en-US" sz="7399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 TALLER</a:t>
            </a:r>
          </a:p>
          <a:p>
            <a:pPr algn="ctr">
              <a:lnSpc>
                <a:spcPts val="6659"/>
              </a:lnSpc>
            </a:pPr>
            <a:endParaRPr lang="en-US" sz="7399" b="1">
              <a:solidFill>
                <a:srgbClr val="FFFFFF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791822" y="4924425"/>
            <a:ext cx="6612048" cy="178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  <a:spcBef>
                <a:spcPct val="0"/>
              </a:spcBef>
            </a:pPr>
            <a:r>
              <a:rPr lang="en-US" sz="8800" b="1" dirty="0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PEPSICO</a:t>
            </a:r>
            <a:endParaRPr lang="en-US" sz="11000" b="1" dirty="0">
              <a:solidFill>
                <a:srgbClr val="FFFFFF"/>
              </a:solidFill>
              <a:latin typeface="Montserrat Heavy"/>
              <a:ea typeface="Montserrat Heavy"/>
              <a:cs typeface="Montserrat Heavy"/>
              <a:sym typeface="Montserrat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223780" y="6810284"/>
            <a:ext cx="9748132" cy="306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CAPSTONE 003D | GRUPO 6 |  ESCUELA DE INFORMÁTICA Y TELECOMUNICACIONES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83187" y="9200386"/>
            <a:ext cx="3049745" cy="971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9"/>
              </a:lnSpc>
            </a:pPr>
            <a:endParaRPr/>
          </a:p>
          <a:p>
            <a:pPr algn="l">
              <a:lnSpc>
                <a:spcPts val="2619"/>
              </a:lnSpc>
            </a:pPr>
            <a:r>
              <a:rPr lang="en-US" sz="21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Fecha: 02/12/2025</a:t>
            </a:r>
          </a:p>
          <a:p>
            <a:pPr algn="r">
              <a:lnSpc>
                <a:spcPts val="2619"/>
              </a:lnSpc>
            </a:pPr>
            <a:endParaRPr lang="en-US" sz="218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0284" y="9509095"/>
            <a:ext cx="6405269" cy="32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Docente: Fabián Alejandro Álvarez Montenegro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43800" y="2683527"/>
            <a:ext cx="2917583" cy="457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7"/>
              </a:lnSpc>
            </a:pPr>
            <a:r>
              <a:rPr lang="en-US" sz="1682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Portafolio</a:t>
            </a:r>
            <a:r>
              <a:rPr lang="en-US" sz="168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682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Titulo</a:t>
            </a:r>
            <a:endParaRPr lang="en-US" sz="1682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20328" y="474230"/>
            <a:ext cx="5134347" cy="1446000"/>
            <a:chOff x="0" y="0"/>
            <a:chExt cx="5659953" cy="15940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60009" cy="1593977"/>
            </a:xfrm>
            <a:custGeom>
              <a:avLst/>
              <a:gdLst/>
              <a:ahLst/>
              <a:cxnLst/>
              <a:rect l="l" t="t" r="r" b="b"/>
              <a:pathLst>
                <a:path w="5660009" h="1593977">
                  <a:moveTo>
                    <a:pt x="0" y="0"/>
                  </a:moveTo>
                  <a:lnTo>
                    <a:pt x="5660009" y="0"/>
                  </a:lnTo>
                  <a:lnTo>
                    <a:pt x="5660009" y="1593977"/>
                  </a:lnTo>
                  <a:lnTo>
                    <a:pt x="0" y="1593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8590" r="-10912" b="-14524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517881" y="1713607"/>
            <a:ext cx="0" cy="8143416"/>
          </a:xfrm>
          <a:prstGeom prst="line">
            <a:avLst/>
          </a:prstGeom>
          <a:ln w="38100" cap="flat">
            <a:solidFill>
              <a:srgbClr val="FAB42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69550" y="335520"/>
            <a:ext cx="12931504" cy="1062636"/>
            <a:chOff x="0" y="0"/>
            <a:chExt cx="17242006" cy="14168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41828" cy="1416812"/>
            </a:xfrm>
            <a:custGeom>
              <a:avLst/>
              <a:gdLst/>
              <a:ahLst/>
              <a:cxnLst/>
              <a:rect l="l" t="t" r="r" b="b"/>
              <a:pathLst>
                <a:path w="17241828" h="1416812">
                  <a:moveTo>
                    <a:pt x="0" y="0"/>
                  </a:moveTo>
                  <a:lnTo>
                    <a:pt x="17241828" y="0"/>
                  </a:lnTo>
                  <a:lnTo>
                    <a:pt x="1724182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1054" y="335520"/>
            <a:ext cx="47625" cy="1062636"/>
            <a:chOff x="0" y="0"/>
            <a:chExt cx="63500" cy="14168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359" cy="1416685"/>
            </a:xfrm>
            <a:custGeom>
              <a:avLst/>
              <a:gdLst/>
              <a:ahLst/>
              <a:cxnLst/>
              <a:rect l="l" t="t" r="r" b="b"/>
              <a:pathLst>
                <a:path w="63359" h="1416685">
                  <a:moveTo>
                    <a:pt x="31679" y="0"/>
                  </a:moveTo>
                  <a:lnTo>
                    <a:pt x="19374" y="381"/>
                  </a:lnTo>
                  <a:lnTo>
                    <a:pt x="9294" y="1651"/>
                  </a:lnTo>
                  <a:lnTo>
                    <a:pt x="2487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2487" y="1413383"/>
                  </a:lnTo>
                  <a:lnTo>
                    <a:pt x="9294" y="1415161"/>
                  </a:lnTo>
                  <a:lnTo>
                    <a:pt x="19374" y="1416304"/>
                  </a:lnTo>
                  <a:lnTo>
                    <a:pt x="31679" y="1416685"/>
                  </a:lnTo>
                  <a:lnTo>
                    <a:pt x="43985" y="1416304"/>
                  </a:lnTo>
                  <a:lnTo>
                    <a:pt x="54064" y="1415161"/>
                  </a:lnTo>
                  <a:lnTo>
                    <a:pt x="60872" y="1413383"/>
                  </a:lnTo>
                  <a:lnTo>
                    <a:pt x="63359" y="1411224"/>
                  </a:lnTo>
                  <a:lnTo>
                    <a:pt x="63359" y="5461"/>
                  </a:lnTo>
                  <a:lnTo>
                    <a:pt x="60872" y="3429"/>
                  </a:lnTo>
                  <a:lnTo>
                    <a:pt x="54064" y="1651"/>
                  </a:lnTo>
                  <a:lnTo>
                    <a:pt x="43985" y="381"/>
                  </a:lnTo>
                  <a:lnTo>
                    <a:pt x="31679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Freeform 7"/>
          <p:cNvSpPr/>
          <p:nvPr/>
        </p:nvSpPr>
        <p:spPr>
          <a:xfrm>
            <a:off x="12031454" y="1845176"/>
            <a:ext cx="1278869" cy="1139862"/>
          </a:xfrm>
          <a:custGeom>
            <a:avLst/>
            <a:gdLst/>
            <a:ahLst/>
            <a:cxnLst/>
            <a:rect l="l" t="t" r="r" b="b"/>
            <a:pathLst>
              <a:path w="1278869" h="1139862">
                <a:moveTo>
                  <a:pt x="0" y="0"/>
                </a:moveTo>
                <a:lnTo>
                  <a:pt x="1278869" y="0"/>
                </a:lnTo>
                <a:lnTo>
                  <a:pt x="1278869" y="1139861"/>
                </a:lnTo>
                <a:lnTo>
                  <a:pt x="0" y="113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2077738" y="3321550"/>
            <a:ext cx="1186301" cy="1091291"/>
          </a:xfrm>
          <a:custGeom>
            <a:avLst/>
            <a:gdLst/>
            <a:ahLst/>
            <a:cxnLst/>
            <a:rect l="l" t="t" r="r" b="b"/>
            <a:pathLst>
              <a:path w="1186301" h="1091291">
                <a:moveTo>
                  <a:pt x="0" y="0"/>
                </a:moveTo>
                <a:lnTo>
                  <a:pt x="1186301" y="0"/>
                </a:lnTo>
                <a:lnTo>
                  <a:pt x="1186301" y="1091291"/>
                </a:lnTo>
                <a:lnTo>
                  <a:pt x="0" y="1091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09" r="-280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1989762" y="4860516"/>
            <a:ext cx="1252688" cy="999620"/>
          </a:xfrm>
          <a:custGeom>
            <a:avLst/>
            <a:gdLst/>
            <a:ahLst/>
            <a:cxnLst/>
            <a:rect l="l" t="t" r="r" b="b"/>
            <a:pathLst>
              <a:path w="1252688" h="999620">
                <a:moveTo>
                  <a:pt x="0" y="0"/>
                </a:moveTo>
                <a:lnTo>
                  <a:pt x="1252689" y="0"/>
                </a:lnTo>
                <a:lnTo>
                  <a:pt x="1252689" y="999620"/>
                </a:lnTo>
                <a:lnTo>
                  <a:pt x="0" y="99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1974588" y="6391473"/>
            <a:ext cx="1283037" cy="1114557"/>
          </a:xfrm>
          <a:custGeom>
            <a:avLst/>
            <a:gdLst/>
            <a:ahLst/>
            <a:cxnLst/>
            <a:rect l="l" t="t" r="r" b="b"/>
            <a:pathLst>
              <a:path w="1283037" h="1114557">
                <a:moveTo>
                  <a:pt x="0" y="0"/>
                </a:moveTo>
                <a:lnTo>
                  <a:pt x="1283037" y="0"/>
                </a:lnTo>
                <a:lnTo>
                  <a:pt x="1283037" y="1114557"/>
                </a:lnTo>
                <a:lnTo>
                  <a:pt x="0" y="11145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1988641" y="7754883"/>
            <a:ext cx="1275399" cy="1207558"/>
          </a:xfrm>
          <a:custGeom>
            <a:avLst/>
            <a:gdLst/>
            <a:ahLst/>
            <a:cxnLst/>
            <a:rect l="l" t="t" r="r" b="b"/>
            <a:pathLst>
              <a:path w="1275399" h="1207558">
                <a:moveTo>
                  <a:pt x="0" y="0"/>
                </a:moveTo>
                <a:lnTo>
                  <a:pt x="1275398" y="0"/>
                </a:lnTo>
                <a:lnTo>
                  <a:pt x="1275398" y="1207559"/>
                </a:lnTo>
                <a:lnTo>
                  <a:pt x="0" y="1207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481986" y="2415106"/>
            <a:ext cx="9785819" cy="2829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  <a:spcBef>
                <a:spcPct val="0"/>
              </a:spcBef>
            </a:pPr>
            <a:r>
              <a:rPr lang="en-US" sz="6200" b="1">
                <a:solidFill>
                  <a:srgbClr val="1B365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HACIA LA</a:t>
            </a:r>
          </a:p>
          <a:p>
            <a:pPr algn="l">
              <a:lnSpc>
                <a:spcPts val="7440"/>
              </a:lnSpc>
              <a:spcBef>
                <a:spcPct val="0"/>
              </a:spcBef>
            </a:pPr>
            <a:r>
              <a:rPr lang="en-US" sz="6200" b="1">
                <a:solidFill>
                  <a:srgbClr val="1B365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TRANSFORMACIÓN</a:t>
            </a:r>
          </a:p>
          <a:p>
            <a:pPr algn="just">
              <a:lnSpc>
                <a:spcPts val="7440"/>
              </a:lnSpc>
              <a:spcBef>
                <a:spcPct val="0"/>
              </a:spcBef>
            </a:pPr>
            <a:r>
              <a:rPr lang="en-US" sz="6200" b="1">
                <a:solidFill>
                  <a:srgbClr val="1B365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DIGITAL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3277" y="5739177"/>
            <a:ext cx="8983903" cy="2171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90"/>
              </a:lnSpc>
              <a:spcBef>
                <a:spcPct val="0"/>
              </a:spcBef>
            </a:pPr>
            <a:r>
              <a:rPr lang="en-US" sz="3575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Este proyecto aborda la modernización crítica de la gestión de talleres PepsiCo, reemplazando la manualidad por un ecosistema digital inteligente.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75889" y="1613393"/>
            <a:ext cx="412640" cy="274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  <a:p>
            <a:pPr algn="ctr">
              <a:lnSpc>
                <a:spcPts val="10800"/>
              </a:lnSpc>
              <a:spcBef>
                <a:spcPct val="0"/>
              </a:spcBef>
            </a:pPr>
            <a:endParaRPr lang="en-US" sz="9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538923" y="2330906"/>
            <a:ext cx="2928276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Origen y 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Problemática Actual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3973339" y="618315"/>
            <a:ext cx="1293150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9"/>
              </a:lnSpc>
              <a:spcBef>
                <a:spcPct val="0"/>
              </a:spcBef>
            </a:pPr>
            <a:r>
              <a:rPr lang="en-US" sz="438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Introduccion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57599" y="3041197"/>
            <a:ext cx="649221" cy="274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  <a:p>
            <a:pPr algn="ctr">
              <a:lnSpc>
                <a:spcPts val="10800"/>
              </a:lnSpc>
              <a:spcBef>
                <a:spcPct val="0"/>
              </a:spcBef>
            </a:pPr>
            <a:endParaRPr lang="en-US" sz="9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957599" y="4655706"/>
            <a:ext cx="644701" cy="274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  <a:p>
            <a:pPr algn="ctr">
              <a:lnSpc>
                <a:spcPts val="10800"/>
              </a:lnSpc>
              <a:spcBef>
                <a:spcPct val="0"/>
              </a:spcBef>
            </a:pPr>
            <a:endParaRPr lang="en-US" sz="9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851324" y="6178681"/>
            <a:ext cx="755496" cy="274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  <a:p>
            <a:pPr algn="ctr">
              <a:lnSpc>
                <a:spcPts val="10800"/>
              </a:lnSpc>
              <a:spcBef>
                <a:spcPct val="0"/>
              </a:spcBef>
            </a:pPr>
            <a:endParaRPr lang="en-US" sz="9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905619" y="7836076"/>
            <a:ext cx="646906" cy="274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</a:p>
          <a:p>
            <a:pPr algn="ctr">
              <a:lnSpc>
                <a:spcPts val="10800"/>
              </a:lnSpc>
              <a:spcBef>
                <a:spcPct val="0"/>
              </a:spcBef>
            </a:pPr>
            <a:endParaRPr lang="en-US" sz="9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546072" y="1845176"/>
            <a:ext cx="2231981" cy="48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El Desafío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30176" y="2982373"/>
            <a:ext cx="3759288" cy="48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Nuestra </a:t>
            </a:r>
            <a:r>
              <a:rPr lang="en-US" sz="3200" b="1" dirty="0" err="1">
                <a:solidFill>
                  <a:srgbClr val="000000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Solución</a:t>
            </a:r>
            <a:endParaRPr lang="en-US" sz="3200" b="1" dirty="0">
              <a:solidFill>
                <a:srgbClr val="000000"/>
              </a:solidFill>
              <a:latin typeface="Montserrat Heavy"/>
              <a:ea typeface="Montserrat Heavy"/>
              <a:cs typeface="Montserrat Heavy"/>
              <a:sym typeface="Montserrat Heavy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546072" y="4874595"/>
            <a:ext cx="1772378" cy="48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Alcance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38923" y="5360326"/>
            <a:ext cx="2534157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Metodología y 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Límites y alcances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46072" y="3891349"/>
            <a:ext cx="221242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Propuesta y 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(APT)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355247" y="6310978"/>
            <a:ext cx="3111952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 err="1">
                <a:solidFill>
                  <a:srgbClr val="000000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Arquitectura</a:t>
            </a:r>
            <a:endParaRPr lang="en-US" sz="3200" b="1" dirty="0">
              <a:solidFill>
                <a:srgbClr val="000000"/>
              </a:solidFill>
              <a:latin typeface="Montserrat Heavy"/>
              <a:ea typeface="Montserrat Heavy"/>
              <a:cs typeface="Montserrat Heavy"/>
              <a:sym typeface="Montserrat Heavy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538923" y="6920321"/>
            <a:ext cx="264362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Tecnología y Flujos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46071" y="7836076"/>
            <a:ext cx="2231981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Impacto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578364" y="8358663"/>
            <a:ext cx="3357342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Resultados del proyecto</a:t>
            </a:r>
          </a:p>
        </p:txBody>
      </p: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61028" y="1780511"/>
            <a:ext cx="2914295" cy="3016088"/>
          </a:xfrm>
          <a:custGeom>
            <a:avLst/>
            <a:gdLst/>
            <a:ahLst/>
            <a:cxnLst/>
            <a:rect l="l" t="t" r="r" b="b"/>
            <a:pathLst>
              <a:path w="2914295" h="3016088">
                <a:moveTo>
                  <a:pt x="0" y="0"/>
                </a:moveTo>
                <a:lnTo>
                  <a:pt x="2914294" y="0"/>
                </a:lnTo>
                <a:lnTo>
                  <a:pt x="2914294" y="3016088"/>
                </a:lnTo>
                <a:lnTo>
                  <a:pt x="0" y="301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flipV="1">
            <a:off x="9144000" y="1958803"/>
            <a:ext cx="0" cy="70617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291087" y="6957467"/>
            <a:ext cx="417699" cy="417699"/>
          </a:xfrm>
          <a:custGeom>
            <a:avLst/>
            <a:gdLst/>
            <a:ahLst/>
            <a:cxnLst/>
            <a:rect l="l" t="t" r="r" b="b"/>
            <a:pathLst>
              <a:path w="417699" h="417699">
                <a:moveTo>
                  <a:pt x="0" y="0"/>
                </a:moveTo>
                <a:lnTo>
                  <a:pt x="417699" y="0"/>
                </a:lnTo>
                <a:lnTo>
                  <a:pt x="417699" y="417700"/>
                </a:lnTo>
                <a:lnTo>
                  <a:pt x="0" y="41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1461759" y="540341"/>
            <a:ext cx="3588742" cy="48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Asignación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96433" y="6909842"/>
            <a:ext cx="7625669" cy="226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Levantamiento de requerimientos, diseño de la arquitectura y base de datos.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Implementación de la lógica de negocio y API.</a:t>
            </a:r>
          </a:p>
        </p:txBody>
      </p:sp>
      <p:sp>
        <p:nvSpPr>
          <p:cNvPr id="7" name="Freeform 7"/>
          <p:cNvSpPr/>
          <p:nvPr/>
        </p:nvSpPr>
        <p:spPr>
          <a:xfrm>
            <a:off x="291087" y="8302440"/>
            <a:ext cx="417699" cy="417699"/>
          </a:xfrm>
          <a:custGeom>
            <a:avLst/>
            <a:gdLst/>
            <a:ahLst/>
            <a:cxnLst/>
            <a:rect l="l" t="t" r="r" b="b"/>
            <a:pathLst>
              <a:path w="417699" h="417699">
                <a:moveTo>
                  <a:pt x="0" y="0"/>
                </a:moveTo>
                <a:lnTo>
                  <a:pt x="417699" y="0"/>
                </a:lnTo>
                <a:lnTo>
                  <a:pt x="417699" y="417699"/>
                </a:lnTo>
                <a:lnTo>
                  <a:pt x="0" y="417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9420892" y="6957467"/>
            <a:ext cx="417699" cy="417699"/>
          </a:xfrm>
          <a:custGeom>
            <a:avLst/>
            <a:gdLst/>
            <a:ahLst/>
            <a:cxnLst/>
            <a:rect l="l" t="t" r="r" b="b"/>
            <a:pathLst>
              <a:path w="417699" h="417699">
                <a:moveTo>
                  <a:pt x="0" y="0"/>
                </a:moveTo>
                <a:lnTo>
                  <a:pt x="417699" y="0"/>
                </a:lnTo>
                <a:lnTo>
                  <a:pt x="417699" y="417700"/>
                </a:lnTo>
                <a:lnTo>
                  <a:pt x="0" y="41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9420892" y="8302440"/>
            <a:ext cx="417699" cy="417699"/>
          </a:xfrm>
          <a:custGeom>
            <a:avLst/>
            <a:gdLst/>
            <a:ahLst/>
            <a:cxnLst/>
            <a:rect l="l" t="t" r="r" b="b"/>
            <a:pathLst>
              <a:path w="417699" h="417699">
                <a:moveTo>
                  <a:pt x="0" y="0"/>
                </a:moveTo>
                <a:lnTo>
                  <a:pt x="417699" y="0"/>
                </a:lnTo>
                <a:lnTo>
                  <a:pt x="417699" y="417699"/>
                </a:lnTo>
                <a:lnTo>
                  <a:pt x="0" y="417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169550" y="335520"/>
            <a:ext cx="12931504" cy="985835"/>
            <a:chOff x="0" y="0"/>
            <a:chExt cx="17242006" cy="13144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241828" cy="1314414"/>
            </a:xfrm>
            <a:custGeom>
              <a:avLst/>
              <a:gdLst/>
              <a:ahLst/>
              <a:cxnLst/>
              <a:rect l="l" t="t" r="r" b="b"/>
              <a:pathLst>
                <a:path w="17241828" h="1314414">
                  <a:moveTo>
                    <a:pt x="0" y="0"/>
                  </a:moveTo>
                  <a:lnTo>
                    <a:pt x="17241828" y="0"/>
                  </a:lnTo>
                  <a:lnTo>
                    <a:pt x="17241828" y="1314414"/>
                  </a:lnTo>
                  <a:lnTo>
                    <a:pt x="0" y="1314414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3957675" y="9078385"/>
            <a:ext cx="3411151" cy="634474"/>
            <a:chOff x="0" y="0"/>
            <a:chExt cx="4548201" cy="8459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Freeform 14"/>
          <p:cNvSpPr/>
          <p:nvPr/>
        </p:nvSpPr>
        <p:spPr>
          <a:xfrm>
            <a:off x="3526048" y="2636757"/>
            <a:ext cx="2159842" cy="2159842"/>
          </a:xfrm>
          <a:custGeom>
            <a:avLst/>
            <a:gdLst/>
            <a:ahLst/>
            <a:cxnLst/>
            <a:rect l="l" t="t" r="r" b="b"/>
            <a:pathLst>
              <a:path w="2159842" h="2159842">
                <a:moveTo>
                  <a:pt x="0" y="0"/>
                </a:moveTo>
                <a:lnTo>
                  <a:pt x="2159842" y="0"/>
                </a:lnTo>
                <a:lnTo>
                  <a:pt x="2159842" y="2159842"/>
                </a:lnTo>
                <a:lnTo>
                  <a:pt x="0" y="21598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1594326" y="4968049"/>
            <a:ext cx="6023286" cy="1517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Dana Werdecker 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Líder de Proyecto / 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Desarrolladora Front-End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68000" y="4968049"/>
            <a:ext cx="5500350" cy="1517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Diego Fuentes 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Analista y Diseñador / Desarrollador Back-End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2136" y="6909842"/>
            <a:ext cx="8151596" cy="181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Coordinación del cronograma, gestión de la comunicación y aseguramiento de la calidad.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Desarrollo de la interfaz de usuario responsiva.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1087" y="461068"/>
            <a:ext cx="9805346" cy="73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Integrantes y Asignación de Roles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1333" y="2844709"/>
            <a:ext cx="16605333" cy="3511841"/>
          </a:xfrm>
          <a:custGeom>
            <a:avLst/>
            <a:gdLst/>
            <a:ahLst/>
            <a:cxnLst/>
            <a:rect l="l" t="t" r="r" b="b"/>
            <a:pathLst>
              <a:path w="18118450" h="3949614">
                <a:moveTo>
                  <a:pt x="0" y="0"/>
                </a:moveTo>
                <a:lnTo>
                  <a:pt x="18118450" y="0"/>
                </a:lnTo>
                <a:lnTo>
                  <a:pt x="18118450" y="3949613"/>
                </a:lnTo>
                <a:lnTo>
                  <a:pt x="0" y="3949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8" b="-748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550" y="335520"/>
            <a:ext cx="12931504" cy="985835"/>
            <a:chOff x="0" y="0"/>
            <a:chExt cx="17242006" cy="13144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41828" cy="1314414"/>
            </a:xfrm>
            <a:custGeom>
              <a:avLst/>
              <a:gdLst/>
              <a:ahLst/>
              <a:cxnLst/>
              <a:rect l="l" t="t" r="r" b="b"/>
              <a:pathLst>
                <a:path w="17241828" h="1314414">
                  <a:moveTo>
                    <a:pt x="0" y="0"/>
                  </a:moveTo>
                  <a:lnTo>
                    <a:pt x="17241828" y="0"/>
                  </a:lnTo>
                  <a:lnTo>
                    <a:pt x="17241828" y="1314414"/>
                  </a:lnTo>
                  <a:lnTo>
                    <a:pt x="0" y="1314414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395002" y="7827227"/>
            <a:ext cx="13536529" cy="1036381"/>
            <a:chOff x="0" y="0"/>
            <a:chExt cx="3565176" cy="2729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65177" cy="272956"/>
            </a:xfrm>
            <a:custGeom>
              <a:avLst/>
              <a:gdLst/>
              <a:ahLst/>
              <a:cxnLst/>
              <a:rect l="l" t="t" r="r" b="b"/>
              <a:pathLst>
                <a:path w="3565177" h="272956">
                  <a:moveTo>
                    <a:pt x="0" y="0"/>
                  </a:moveTo>
                  <a:lnTo>
                    <a:pt x="3565177" y="0"/>
                  </a:lnTo>
                  <a:lnTo>
                    <a:pt x="3565177" y="272956"/>
                  </a:lnTo>
                  <a:lnTo>
                    <a:pt x="0" y="272956"/>
                  </a:lnTo>
                  <a:close/>
                </a:path>
              </a:pathLst>
            </a:custGeom>
            <a:solidFill>
              <a:srgbClr val="B4B4B4">
                <a:alpha val="52941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3565176" cy="272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7213" y="1892856"/>
            <a:ext cx="14998952" cy="66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73737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UN ECOSISTEMA MANUAL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1905025" y="533463"/>
            <a:ext cx="1293150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9"/>
              </a:lnSpc>
              <a:spcBef>
                <a:spcPct val="0"/>
              </a:spcBef>
            </a:pPr>
            <a:r>
              <a:rPr lang="en-US" sz="438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Origen de la Problemática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4323" y="6600229"/>
            <a:ext cx="242578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Ingreso de vehiculos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17331" y="6389329"/>
            <a:ext cx="242578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Registro en planillas manuales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13589" y="6600229"/>
            <a:ext cx="2425780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Comunicacion Informal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68194" y="6600229"/>
            <a:ext cx="242578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Incertidumbre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95002" y="8012043"/>
            <a:ext cx="13536529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Esta dependencia genera falta de control, datos redundantes y pérdida crítica de tiempo en la busqueda de informacion.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347377" y="7800972"/>
            <a:ext cx="47625" cy="1062636"/>
            <a:chOff x="0" y="0"/>
            <a:chExt cx="63500" cy="14168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359" cy="1416685"/>
            </a:xfrm>
            <a:custGeom>
              <a:avLst/>
              <a:gdLst/>
              <a:ahLst/>
              <a:cxnLst/>
              <a:rect l="l" t="t" r="r" b="b"/>
              <a:pathLst>
                <a:path w="63359" h="1416685">
                  <a:moveTo>
                    <a:pt x="31679" y="0"/>
                  </a:moveTo>
                  <a:lnTo>
                    <a:pt x="19374" y="381"/>
                  </a:lnTo>
                  <a:lnTo>
                    <a:pt x="9294" y="1651"/>
                  </a:lnTo>
                  <a:lnTo>
                    <a:pt x="2487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2487" y="1413383"/>
                  </a:lnTo>
                  <a:lnTo>
                    <a:pt x="9294" y="1415161"/>
                  </a:lnTo>
                  <a:lnTo>
                    <a:pt x="19374" y="1416304"/>
                  </a:lnTo>
                  <a:lnTo>
                    <a:pt x="31679" y="1416685"/>
                  </a:lnTo>
                  <a:lnTo>
                    <a:pt x="43985" y="1416304"/>
                  </a:lnTo>
                  <a:lnTo>
                    <a:pt x="54064" y="1415161"/>
                  </a:lnTo>
                  <a:lnTo>
                    <a:pt x="60872" y="1413383"/>
                  </a:lnTo>
                  <a:lnTo>
                    <a:pt x="63359" y="1411224"/>
                  </a:lnTo>
                  <a:lnTo>
                    <a:pt x="63359" y="5461"/>
                  </a:lnTo>
                  <a:lnTo>
                    <a:pt x="60872" y="3429"/>
                  </a:lnTo>
                  <a:lnTo>
                    <a:pt x="54064" y="1651"/>
                  </a:lnTo>
                  <a:lnTo>
                    <a:pt x="43985" y="381"/>
                  </a:lnTo>
                  <a:lnTo>
                    <a:pt x="31679" y="0"/>
                  </a:lnTo>
                  <a:close/>
                </a:path>
              </a:pathLst>
            </a:custGeom>
            <a:solidFill>
              <a:srgbClr val="1A1A1A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101054" y="335520"/>
            <a:ext cx="47625" cy="1062636"/>
            <a:chOff x="0" y="0"/>
            <a:chExt cx="63500" cy="14168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359" cy="1416685"/>
            </a:xfrm>
            <a:custGeom>
              <a:avLst/>
              <a:gdLst/>
              <a:ahLst/>
              <a:cxnLst/>
              <a:rect l="l" t="t" r="r" b="b"/>
              <a:pathLst>
                <a:path w="63359" h="1416685">
                  <a:moveTo>
                    <a:pt x="31679" y="0"/>
                  </a:moveTo>
                  <a:lnTo>
                    <a:pt x="19374" y="381"/>
                  </a:lnTo>
                  <a:lnTo>
                    <a:pt x="9294" y="1651"/>
                  </a:lnTo>
                  <a:lnTo>
                    <a:pt x="2487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2487" y="1413383"/>
                  </a:lnTo>
                  <a:lnTo>
                    <a:pt x="9294" y="1415161"/>
                  </a:lnTo>
                  <a:lnTo>
                    <a:pt x="19374" y="1416304"/>
                  </a:lnTo>
                  <a:lnTo>
                    <a:pt x="31679" y="1416685"/>
                  </a:lnTo>
                  <a:lnTo>
                    <a:pt x="43985" y="1416304"/>
                  </a:lnTo>
                  <a:lnTo>
                    <a:pt x="54064" y="1415161"/>
                  </a:lnTo>
                  <a:lnTo>
                    <a:pt x="60872" y="1413383"/>
                  </a:lnTo>
                  <a:lnTo>
                    <a:pt x="63359" y="1411224"/>
                  </a:lnTo>
                  <a:lnTo>
                    <a:pt x="63359" y="5461"/>
                  </a:lnTo>
                  <a:lnTo>
                    <a:pt x="60872" y="3429"/>
                  </a:lnTo>
                  <a:lnTo>
                    <a:pt x="54064" y="1651"/>
                  </a:lnTo>
                  <a:lnTo>
                    <a:pt x="43985" y="381"/>
                  </a:lnTo>
                  <a:lnTo>
                    <a:pt x="31679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550" y="335520"/>
            <a:ext cx="12931504" cy="985835"/>
            <a:chOff x="0" y="0"/>
            <a:chExt cx="17242006" cy="1314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41828" cy="1314414"/>
            </a:xfrm>
            <a:custGeom>
              <a:avLst/>
              <a:gdLst/>
              <a:ahLst/>
              <a:cxnLst/>
              <a:rect l="l" t="t" r="r" b="b"/>
              <a:pathLst>
                <a:path w="17241828" h="1314414">
                  <a:moveTo>
                    <a:pt x="0" y="0"/>
                  </a:moveTo>
                  <a:lnTo>
                    <a:pt x="17241828" y="0"/>
                  </a:lnTo>
                  <a:lnTo>
                    <a:pt x="17241828" y="1314414"/>
                  </a:lnTo>
                  <a:lnTo>
                    <a:pt x="0" y="1314414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>
            <a:off x="1028700" y="2813510"/>
            <a:ext cx="3993678" cy="3412779"/>
          </a:xfrm>
          <a:custGeom>
            <a:avLst/>
            <a:gdLst/>
            <a:ahLst/>
            <a:cxnLst/>
            <a:rect l="l" t="t" r="r" b="b"/>
            <a:pathLst>
              <a:path w="3993678" h="3412779">
                <a:moveTo>
                  <a:pt x="0" y="0"/>
                </a:moveTo>
                <a:lnTo>
                  <a:pt x="3993678" y="0"/>
                </a:lnTo>
                <a:lnTo>
                  <a:pt x="3993678" y="3412780"/>
                </a:lnTo>
                <a:lnTo>
                  <a:pt x="0" y="3412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6571693" y="2626400"/>
            <a:ext cx="5144615" cy="3768483"/>
          </a:xfrm>
          <a:custGeom>
            <a:avLst/>
            <a:gdLst/>
            <a:ahLst/>
            <a:cxnLst/>
            <a:rect l="l" t="t" r="r" b="b"/>
            <a:pathLst>
              <a:path w="5144615" h="3768483">
                <a:moveTo>
                  <a:pt x="0" y="0"/>
                </a:moveTo>
                <a:lnTo>
                  <a:pt x="5144614" y="0"/>
                </a:lnTo>
                <a:lnTo>
                  <a:pt x="5144614" y="3768483"/>
                </a:lnTo>
                <a:lnTo>
                  <a:pt x="0" y="37684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3273105" y="2794993"/>
            <a:ext cx="3910082" cy="3431296"/>
          </a:xfrm>
          <a:custGeom>
            <a:avLst/>
            <a:gdLst/>
            <a:ahLst/>
            <a:cxnLst/>
            <a:rect l="l" t="t" r="r" b="b"/>
            <a:pathLst>
              <a:path w="3910082" h="3431296">
                <a:moveTo>
                  <a:pt x="0" y="0"/>
                </a:moveTo>
                <a:lnTo>
                  <a:pt x="3910082" y="0"/>
                </a:lnTo>
                <a:lnTo>
                  <a:pt x="3910082" y="3431297"/>
                </a:lnTo>
                <a:lnTo>
                  <a:pt x="0" y="3431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2296641" y="1548921"/>
            <a:ext cx="12931504" cy="84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5599" b="1">
                <a:solidFill>
                  <a:srgbClr val="323C4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Puntos Críticos de la Operación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505080" y="529746"/>
            <a:ext cx="7061237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sz="4400" b="1">
                <a:solidFill>
                  <a:srgbClr val="181A2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La problemática: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5517996" y="2519414"/>
            <a:ext cx="0" cy="7199821"/>
          </a:xfrm>
          <a:prstGeom prst="line">
            <a:avLst/>
          </a:prstGeom>
          <a:ln w="38100" cap="flat">
            <a:solidFill>
              <a:srgbClr val="000000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" name="AutoShape 10"/>
          <p:cNvSpPr/>
          <p:nvPr/>
        </p:nvSpPr>
        <p:spPr>
          <a:xfrm flipH="1" flipV="1">
            <a:off x="12228115" y="2519414"/>
            <a:ext cx="0" cy="7199821"/>
          </a:xfrm>
          <a:prstGeom prst="line">
            <a:avLst/>
          </a:prstGeom>
          <a:ln w="38100" cap="flat">
            <a:solidFill>
              <a:srgbClr val="000000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1028700" y="6466320"/>
            <a:ext cx="3644231" cy="36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Falta de Trazabilidad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35910" y="6466320"/>
            <a:ext cx="3674291" cy="36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Ineficiencia Operativa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66720" y="6466320"/>
            <a:ext cx="4746295" cy="36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Comunicación Fragmentada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848149" y="511201"/>
            <a:ext cx="3411151" cy="634474"/>
            <a:chOff x="0" y="0"/>
            <a:chExt cx="4548201" cy="8459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85939" y="7375958"/>
            <a:ext cx="4660582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Dificultad para seguir el historial de un vehículo. 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Pérdida de información clave entre turnos. 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Ausencia de datos centralizados para la toma de decisiones.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89471" y="7375958"/>
            <a:ext cx="5968208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Procesos de registro lentos y propensos a errores. 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Gestión compleja de la disponibilidad de mecánicos. 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Tiempos de espera no optimizados y aglomeraciones.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99590" y="7321665"/>
            <a:ext cx="5186946" cy="200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Dependencia de canales informales como WhatsApp. 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Falta de una fuente única y confiable de información. </a:t>
            </a:r>
          </a:p>
          <a:p>
            <a:pPr marL="474979" lvl="1" indent="-237490" algn="l">
              <a:lnSpc>
                <a:spcPts val="2639"/>
              </a:lnSpc>
              <a:buFont typeface="Arial"/>
              <a:buChar char="•"/>
            </a:pPr>
            <a:r>
              <a:rPr lang="en-US" sz="2199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Riesgo de malentendidos y decisiones desinformadas.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0586" y="2185006"/>
            <a:ext cx="17626828" cy="7932073"/>
          </a:xfrm>
          <a:custGeom>
            <a:avLst/>
            <a:gdLst/>
            <a:ahLst/>
            <a:cxnLst/>
            <a:rect l="l" t="t" r="r" b="b"/>
            <a:pathLst>
              <a:path w="17626828" h="7932073">
                <a:moveTo>
                  <a:pt x="0" y="0"/>
                </a:moveTo>
                <a:lnTo>
                  <a:pt x="17626828" y="0"/>
                </a:lnTo>
                <a:lnTo>
                  <a:pt x="17626828" y="7932073"/>
                </a:lnTo>
                <a:lnTo>
                  <a:pt x="0" y="7932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69550" y="335520"/>
            <a:ext cx="12931504" cy="985835"/>
            <a:chOff x="0" y="0"/>
            <a:chExt cx="17242006" cy="13144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41828" cy="1314414"/>
            </a:xfrm>
            <a:custGeom>
              <a:avLst/>
              <a:gdLst/>
              <a:ahLst/>
              <a:cxnLst/>
              <a:rect l="l" t="t" r="r" b="b"/>
              <a:pathLst>
                <a:path w="17241828" h="1314414">
                  <a:moveTo>
                    <a:pt x="0" y="0"/>
                  </a:moveTo>
                  <a:lnTo>
                    <a:pt x="17241828" y="0"/>
                  </a:lnTo>
                  <a:lnTo>
                    <a:pt x="17241828" y="1314414"/>
                  </a:lnTo>
                  <a:lnTo>
                    <a:pt x="0" y="1314414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2041" y="499848"/>
            <a:ext cx="6508845" cy="66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Nuestra propuesta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82816" y="1622987"/>
            <a:ext cx="11317332" cy="562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Plataforma APT- Gestion Inteligente de Taller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848149" y="51120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783205" y="9313545"/>
            <a:ext cx="845820" cy="452438"/>
            <a:chOff x="0" y="0"/>
            <a:chExt cx="1127760" cy="603250"/>
          </a:xfrm>
        </p:grpSpPr>
        <p:sp>
          <p:nvSpPr>
            <p:cNvPr id="10" name="Freeform 10"/>
            <p:cNvSpPr/>
            <p:nvPr/>
          </p:nvSpPr>
          <p:spPr>
            <a:xfrm>
              <a:off x="49442" y="35971"/>
              <a:ext cx="1027518" cy="520641"/>
            </a:xfrm>
            <a:custGeom>
              <a:avLst/>
              <a:gdLst/>
              <a:ahLst/>
              <a:cxnLst/>
              <a:rect l="l" t="t" r="r" b="b"/>
              <a:pathLst>
                <a:path w="1027518" h="520641">
                  <a:moveTo>
                    <a:pt x="598258" y="201519"/>
                  </a:moveTo>
                  <a:cubicBezTo>
                    <a:pt x="720178" y="209139"/>
                    <a:pt x="760818" y="224379"/>
                    <a:pt x="776058" y="247239"/>
                  </a:cubicBezTo>
                  <a:cubicBezTo>
                    <a:pt x="790028" y="268829"/>
                    <a:pt x="793838" y="312009"/>
                    <a:pt x="778598" y="336139"/>
                  </a:cubicBezTo>
                  <a:cubicBezTo>
                    <a:pt x="760818" y="366619"/>
                    <a:pt x="697318" y="385669"/>
                    <a:pt x="650328" y="400909"/>
                  </a:cubicBezTo>
                  <a:cubicBezTo>
                    <a:pt x="602068" y="416149"/>
                    <a:pt x="525868" y="432659"/>
                    <a:pt x="491578" y="422499"/>
                  </a:cubicBezTo>
                  <a:cubicBezTo>
                    <a:pt x="471258" y="417419"/>
                    <a:pt x="457288" y="402179"/>
                    <a:pt x="448398" y="389479"/>
                  </a:cubicBezTo>
                  <a:cubicBezTo>
                    <a:pt x="440778" y="378049"/>
                    <a:pt x="436968" y="366619"/>
                    <a:pt x="436968" y="353919"/>
                  </a:cubicBezTo>
                  <a:cubicBezTo>
                    <a:pt x="436968" y="338679"/>
                    <a:pt x="443318" y="315819"/>
                    <a:pt x="453478" y="301849"/>
                  </a:cubicBezTo>
                  <a:cubicBezTo>
                    <a:pt x="463638" y="289149"/>
                    <a:pt x="478878" y="280259"/>
                    <a:pt x="500468" y="273909"/>
                  </a:cubicBezTo>
                  <a:cubicBezTo>
                    <a:pt x="541108" y="263749"/>
                    <a:pt x="626198" y="281529"/>
                    <a:pt x="687158" y="278989"/>
                  </a:cubicBezTo>
                  <a:cubicBezTo>
                    <a:pt x="743038" y="276449"/>
                    <a:pt x="817968" y="277719"/>
                    <a:pt x="852258" y="259939"/>
                  </a:cubicBezTo>
                  <a:cubicBezTo>
                    <a:pt x="872578" y="251049"/>
                    <a:pt x="876388" y="228189"/>
                    <a:pt x="890358" y="219299"/>
                  </a:cubicBezTo>
                  <a:cubicBezTo>
                    <a:pt x="901788" y="212949"/>
                    <a:pt x="914488" y="210409"/>
                    <a:pt x="927188" y="211679"/>
                  </a:cubicBezTo>
                  <a:cubicBezTo>
                    <a:pt x="946238" y="214219"/>
                    <a:pt x="979258" y="229459"/>
                    <a:pt x="990688" y="248509"/>
                  </a:cubicBezTo>
                  <a:cubicBezTo>
                    <a:pt x="1002118" y="266289"/>
                    <a:pt x="1009738" y="303119"/>
                    <a:pt x="997038" y="320899"/>
                  </a:cubicBezTo>
                  <a:cubicBezTo>
                    <a:pt x="981798" y="345029"/>
                    <a:pt x="913218" y="355189"/>
                    <a:pt x="871308" y="360269"/>
                  </a:cubicBezTo>
                  <a:cubicBezTo>
                    <a:pt x="831938" y="365349"/>
                    <a:pt x="787488" y="367889"/>
                    <a:pt x="751928" y="353919"/>
                  </a:cubicBezTo>
                  <a:cubicBezTo>
                    <a:pt x="716368" y="338679"/>
                    <a:pt x="673188" y="305659"/>
                    <a:pt x="660488" y="270099"/>
                  </a:cubicBezTo>
                  <a:cubicBezTo>
                    <a:pt x="647788" y="233269"/>
                    <a:pt x="657948" y="169769"/>
                    <a:pt x="683348" y="134209"/>
                  </a:cubicBezTo>
                  <a:cubicBezTo>
                    <a:pt x="710018" y="97379"/>
                    <a:pt x="779868" y="77059"/>
                    <a:pt x="825588" y="58009"/>
                  </a:cubicBezTo>
                  <a:cubicBezTo>
                    <a:pt x="862418" y="42769"/>
                    <a:pt x="900518" y="28799"/>
                    <a:pt x="930998" y="26259"/>
                  </a:cubicBezTo>
                  <a:cubicBezTo>
                    <a:pt x="951318" y="23719"/>
                    <a:pt x="969098" y="23719"/>
                    <a:pt x="984338" y="32609"/>
                  </a:cubicBezTo>
                  <a:cubicBezTo>
                    <a:pt x="999578" y="40229"/>
                    <a:pt x="1014818" y="58009"/>
                    <a:pt x="1022438" y="73249"/>
                  </a:cubicBezTo>
                  <a:cubicBezTo>
                    <a:pt x="1027518" y="84679"/>
                    <a:pt x="1028788" y="96109"/>
                    <a:pt x="1026248" y="108809"/>
                  </a:cubicBezTo>
                  <a:cubicBezTo>
                    <a:pt x="1023708" y="125319"/>
                    <a:pt x="1017358" y="144369"/>
                    <a:pt x="1002118" y="158339"/>
                  </a:cubicBezTo>
                  <a:cubicBezTo>
                    <a:pt x="976718" y="179929"/>
                    <a:pt x="917028" y="182469"/>
                    <a:pt x="872578" y="205329"/>
                  </a:cubicBezTo>
                  <a:cubicBezTo>
                    <a:pt x="820508" y="231999"/>
                    <a:pt x="758278" y="292959"/>
                    <a:pt x="711288" y="314549"/>
                  </a:cubicBezTo>
                  <a:cubicBezTo>
                    <a:pt x="678268" y="328519"/>
                    <a:pt x="651598" y="320899"/>
                    <a:pt x="622388" y="336139"/>
                  </a:cubicBezTo>
                  <a:cubicBezTo>
                    <a:pt x="588098" y="353919"/>
                    <a:pt x="563968" y="400909"/>
                    <a:pt x="520788" y="423769"/>
                  </a:cubicBezTo>
                  <a:cubicBezTo>
                    <a:pt x="468718" y="452979"/>
                    <a:pt x="374738" y="475839"/>
                    <a:pt x="323938" y="479649"/>
                  </a:cubicBezTo>
                  <a:cubicBezTo>
                    <a:pt x="292188" y="480919"/>
                    <a:pt x="274408" y="474569"/>
                    <a:pt x="246468" y="466949"/>
                  </a:cubicBezTo>
                  <a:cubicBezTo>
                    <a:pt x="212178" y="456789"/>
                    <a:pt x="167728" y="439009"/>
                    <a:pt x="133438" y="418689"/>
                  </a:cubicBezTo>
                  <a:cubicBezTo>
                    <a:pt x="100418" y="400909"/>
                    <a:pt x="68668" y="381859"/>
                    <a:pt x="45808" y="355189"/>
                  </a:cubicBezTo>
                  <a:cubicBezTo>
                    <a:pt x="24218" y="329789"/>
                    <a:pt x="5168" y="292959"/>
                    <a:pt x="1358" y="261209"/>
                  </a:cubicBezTo>
                  <a:cubicBezTo>
                    <a:pt x="-2452" y="230729"/>
                    <a:pt x="1358" y="193899"/>
                    <a:pt x="17868" y="168499"/>
                  </a:cubicBezTo>
                  <a:cubicBezTo>
                    <a:pt x="36918" y="139289"/>
                    <a:pt x="75018" y="120239"/>
                    <a:pt x="113118" y="98649"/>
                  </a:cubicBezTo>
                  <a:cubicBezTo>
                    <a:pt x="161378" y="70709"/>
                    <a:pt x="215988" y="36419"/>
                    <a:pt x="288378" y="21179"/>
                  </a:cubicBezTo>
                  <a:cubicBezTo>
                    <a:pt x="389978" y="-1681"/>
                    <a:pt x="584288" y="-9301"/>
                    <a:pt x="674458" y="14829"/>
                  </a:cubicBezTo>
                  <a:cubicBezTo>
                    <a:pt x="729068" y="30069"/>
                    <a:pt x="769708" y="69439"/>
                    <a:pt x="793838" y="89759"/>
                  </a:cubicBezTo>
                  <a:cubicBezTo>
                    <a:pt x="807808" y="101189"/>
                    <a:pt x="814158" y="108809"/>
                    <a:pt x="820508" y="121509"/>
                  </a:cubicBezTo>
                  <a:cubicBezTo>
                    <a:pt x="825588" y="132939"/>
                    <a:pt x="829398" y="146909"/>
                    <a:pt x="828128" y="159609"/>
                  </a:cubicBezTo>
                  <a:cubicBezTo>
                    <a:pt x="828128" y="173579"/>
                    <a:pt x="824318" y="187549"/>
                    <a:pt x="817968" y="198979"/>
                  </a:cubicBezTo>
                  <a:cubicBezTo>
                    <a:pt x="811618" y="210409"/>
                    <a:pt x="801458" y="220569"/>
                    <a:pt x="790028" y="228189"/>
                  </a:cubicBezTo>
                  <a:cubicBezTo>
                    <a:pt x="779868" y="234539"/>
                    <a:pt x="765898" y="239619"/>
                    <a:pt x="753198" y="240889"/>
                  </a:cubicBezTo>
                  <a:cubicBezTo>
                    <a:pt x="739228" y="242159"/>
                    <a:pt x="730338" y="233269"/>
                    <a:pt x="712558" y="235809"/>
                  </a:cubicBezTo>
                  <a:cubicBezTo>
                    <a:pt x="671918" y="238349"/>
                    <a:pt x="586828" y="285339"/>
                    <a:pt x="516978" y="296769"/>
                  </a:cubicBezTo>
                  <a:cubicBezTo>
                    <a:pt x="440778" y="308199"/>
                    <a:pt x="320128" y="320899"/>
                    <a:pt x="274408" y="298039"/>
                  </a:cubicBezTo>
                  <a:cubicBezTo>
                    <a:pt x="249008" y="284069"/>
                    <a:pt x="235038" y="256129"/>
                    <a:pt x="231228" y="235809"/>
                  </a:cubicBezTo>
                  <a:cubicBezTo>
                    <a:pt x="227418" y="216759"/>
                    <a:pt x="232498" y="193899"/>
                    <a:pt x="243928" y="178659"/>
                  </a:cubicBezTo>
                  <a:cubicBezTo>
                    <a:pt x="257898" y="162149"/>
                    <a:pt x="279488" y="151989"/>
                    <a:pt x="311238" y="143099"/>
                  </a:cubicBezTo>
                  <a:cubicBezTo>
                    <a:pt x="379818" y="126589"/>
                    <a:pt x="562698" y="135479"/>
                    <a:pt x="650328" y="141829"/>
                  </a:cubicBezTo>
                  <a:cubicBezTo>
                    <a:pt x="707478" y="146909"/>
                    <a:pt x="746848" y="150719"/>
                    <a:pt x="790028" y="163419"/>
                  </a:cubicBezTo>
                  <a:cubicBezTo>
                    <a:pt x="828128" y="174849"/>
                    <a:pt x="866228" y="191359"/>
                    <a:pt x="895438" y="210409"/>
                  </a:cubicBezTo>
                  <a:cubicBezTo>
                    <a:pt x="919568" y="225649"/>
                    <a:pt x="938618" y="239619"/>
                    <a:pt x="953858" y="261209"/>
                  </a:cubicBezTo>
                  <a:cubicBezTo>
                    <a:pt x="971638" y="284069"/>
                    <a:pt x="993228" y="315819"/>
                    <a:pt x="993228" y="343759"/>
                  </a:cubicBezTo>
                  <a:cubicBezTo>
                    <a:pt x="994498" y="371699"/>
                    <a:pt x="977988" y="408529"/>
                    <a:pt x="958938" y="427579"/>
                  </a:cubicBezTo>
                  <a:cubicBezTo>
                    <a:pt x="938618" y="446629"/>
                    <a:pt x="906868" y="452979"/>
                    <a:pt x="877658" y="459329"/>
                  </a:cubicBezTo>
                  <a:cubicBezTo>
                    <a:pt x="847178" y="465679"/>
                    <a:pt x="816698" y="465679"/>
                    <a:pt x="779868" y="463139"/>
                  </a:cubicBezTo>
                  <a:cubicBezTo>
                    <a:pt x="727798" y="458059"/>
                    <a:pt x="659218" y="430119"/>
                    <a:pt x="598258" y="421229"/>
                  </a:cubicBezTo>
                  <a:cubicBezTo>
                    <a:pt x="537298" y="413609"/>
                    <a:pt x="417918" y="425039"/>
                    <a:pt x="415378" y="411069"/>
                  </a:cubicBezTo>
                  <a:cubicBezTo>
                    <a:pt x="412838" y="399639"/>
                    <a:pt x="503008" y="360269"/>
                    <a:pt x="547458" y="352649"/>
                  </a:cubicBezTo>
                  <a:cubicBezTo>
                    <a:pt x="589368" y="343759"/>
                    <a:pt x="645248" y="342489"/>
                    <a:pt x="676998" y="356459"/>
                  </a:cubicBezTo>
                  <a:cubicBezTo>
                    <a:pt x="701128" y="367889"/>
                    <a:pt x="721448" y="392019"/>
                    <a:pt x="729068" y="412339"/>
                  </a:cubicBezTo>
                  <a:cubicBezTo>
                    <a:pt x="734148" y="428849"/>
                    <a:pt x="731608" y="449169"/>
                    <a:pt x="725258" y="464409"/>
                  </a:cubicBezTo>
                  <a:cubicBezTo>
                    <a:pt x="718908" y="478379"/>
                    <a:pt x="706208" y="494889"/>
                    <a:pt x="692238" y="503779"/>
                  </a:cubicBezTo>
                  <a:cubicBezTo>
                    <a:pt x="678268" y="511399"/>
                    <a:pt x="657948" y="516479"/>
                    <a:pt x="641438" y="513939"/>
                  </a:cubicBezTo>
                  <a:cubicBezTo>
                    <a:pt x="624928" y="512669"/>
                    <a:pt x="605878" y="505049"/>
                    <a:pt x="594448" y="492349"/>
                  </a:cubicBezTo>
                  <a:cubicBezTo>
                    <a:pt x="580478" y="475839"/>
                    <a:pt x="567778" y="441549"/>
                    <a:pt x="570318" y="419959"/>
                  </a:cubicBezTo>
                  <a:cubicBezTo>
                    <a:pt x="571588" y="402179"/>
                    <a:pt x="583018" y="385669"/>
                    <a:pt x="594448" y="374239"/>
                  </a:cubicBezTo>
                  <a:cubicBezTo>
                    <a:pt x="607148" y="362809"/>
                    <a:pt x="624928" y="353919"/>
                    <a:pt x="641438" y="352649"/>
                  </a:cubicBezTo>
                  <a:cubicBezTo>
                    <a:pt x="657948" y="351379"/>
                    <a:pt x="678268" y="355189"/>
                    <a:pt x="692238" y="364079"/>
                  </a:cubicBezTo>
                  <a:cubicBezTo>
                    <a:pt x="706208" y="372969"/>
                    <a:pt x="720178" y="386939"/>
                    <a:pt x="725258" y="403449"/>
                  </a:cubicBezTo>
                  <a:cubicBezTo>
                    <a:pt x="731608" y="423769"/>
                    <a:pt x="730338" y="460599"/>
                    <a:pt x="717638" y="479649"/>
                  </a:cubicBezTo>
                  <a:cubicBezTo>
                    <a:pt x="704938" y="497429"/>
                    <a:pt x="679538" y="507589"/>
                    <a:pt x="650328" y="515209"/>
                  </a:cubicBezTo>
                  <a:cubicBezTo>
                    <a:pt x="600798" y="526639"/>
                    <a:pt x="494118" y="516479"/>
                    <a:pt x="440778" y="516479"/>
                  </a:cubicBezTo>
                  <a:cubicBezTo>
                    <a:pt x="409028" y="516479"/>
                    <a:pt x="388708" y="522829"/>
                    <a:pt x="362038" y="515209"/>
                  </a:cubicBezTo>
                  <a:cubicBezTo>
                    <a:pt x="331558" y="506319"/>
                    <a:pt x="289648" y="488539"/>
                    <a:pt x="273138" y="464409"/>
                  </a:cubicBezTo>
                  <a:cubicBezTo>
                    <a:pt x="256628" y="441549"/>
                    <a:pt x="252818" y="405989"/>
                    <a:pt x="257898" y="378049"/>
                  </a:cubicBezTo>
                  <a:cubicBezTo>
                    <a:pt x="262978" y="351379"/>
                    <a:pt x="280758" y="322169"/>
                    <a:pt x="303618" y="300579"/>
                  </a:cubicBezTo>
                  <a:cubicBezTo>
                    <a:pt x="329018" y="276449"/>
                    <a:pt x="363308" y="256129"/>
                    <a:pt x="406488" y="247239"/>
                  </a:cubicBezTo>
                  <a:cubicBezTo>
                    <a:pt x="466178" y="234539"/>
                    <a:pt x="562698" y="252319"/>
                    <a:pt x="638898" y="259939"/>
                  </a:cubicBezTo>
                  <a:cubicBezTo>
                    <a:pt x="712558" y="268829"/>
                    <a:pt x="833208" y="261209"/>
                    <a:pt x="857338" y="294229"/>
                  </a:cubicBezTo>
                  <a:cubicBezTo>
                    <a:pt x="872578" y="315819"/>
                    <a:pt x="857338" y="380589"/>
                    <a:pt x="844638" y="384399"/>
                  </a:cubicBezTo>
                  <a:cubicBezTo>
                    <a:pt x="833208" y="388209"/>
                    <a:pt x="811618" y="339949"/>
                    <a:pt x="784948" y="327249"/>
                  </a:cubicBezTo>
                  <a:cubicBezTo>
                    <a:pt x="750658" y="310739"/>
                    <a:pt x="706208" y="312009"/>
                    <a:pt x="650328" y="308199"/>
                  </a:cubicBezTo>
                  <a:cubicBezTo>
                    <a:pt x="560158" y="300579"/>
                    <a:pt x="355688" y="323439"/>
                    <a:pt x="293458" y="304389"/>
                  </a:cubicBezTo>
                  <a:cubicBezTo>
                    <a:pt x="268058" y="296769"/>
                    <a:pt x="255358" y="286609"/>
                    <a:pt x="245198" y="271369"/>
                  </a:cubicBezTo>
                  <a:cubicBezTo>
                    <a:pt x="235038" y="257399"/>
                    <a:pt x="229958" y="231999"/>
                    <a:pt x="231228" y="215489"/>
                  </a:cubicBezTo>
                  <a:cubicBezTo>
                    <a:pt x="231228" y="201519"/>
                    <a:pt x="236308" y="190089"/>
                    <a:pt x="243928" y="178659"/>
                  </a:cubicBezTo>
                  <a:cubicBezTo>
                    <a:pt x="254088" y="165959"/>
                    <a:pt x="268058" y="154529"/>
                    <a:pt x="292188" y="145639"/>
                  </a:cubicBezTo>
                  <a:cubicBezTo>
                    <a:pt x="336638" y="130399"/>
                    <a:pt x="442048" y="144369"/>
                    <a:pt x="510628" y="132939"/>
                  </a:cubicBezTo>
                  <a:cubicBezTo>
                    <a:pt x="572858" y="122779"/>
                    <a:pt x="637628" y="92299"/>
                    <a:pt x="687158" y="84679"/>
                  </a:cubicBezTo>
                  <a:cubicBezTo>
                    <a:pt x="721448" y="79599"/>
                    <a:pt x="753198" y="71979"/>
                    <a:pt x="776058" y="80869"/>
                  </a:cubicBezTo>
                  <a:cubicBezTo>
                    <a:pt x="795108" y="87219"/>
                    <a:pt x="811618" y="106269"/>
                    <a:pt x="820508" y="121509"/>
                  </a:cubicBezTo>
                  <a:cubicBezTo>
                    <a:pt x="826858" y="132939"/>
                    <a:pt x="829398" y="145639"/>
                    <a:pt x="828128" y="159609"/>
                  </a:cubicBezTo>
                  <a:cubicBezTo>
                    <a:pt x="826858" y="177389"/>
                    <a:pt x="817968" y="201519"/>
                    <a:pt x="805268" y="215489"/>
                  </a:cubicBezTo>
                  <a:cubicBezTo>
                    <a:pt x="793838" y="228189"/>
                    <a:pt x="769708" y="238349"/>
                    <a:pt x="753198" y="240889"/>
                  </a:cubicBezTo>
                  <a:cubicBezTo>
                    <a:pt x="739228" y="243429"/>
                    <a:pt x="722718" y="240889"/>
                    <a:pt x="712558" y="235809"/>
                  </a:cubicBezTo>
                  <a:cubicBezTo>
                    <a:pt x="703668" y="229459"/>
                    <a:pt x="703668" y="216759"/>
                    <a:pt x="693508" y="209139"/>
                  </a:cubicBezTo>
                  <a:cubicBezTo>
                    <a:pt x="675728" y="196439"/>
                    <a:pt x="645248" y="183739"/>
                    <a:pt x="609688" y="178659"/>
                  </a:cubicBezTo>
                  <a:cubicBezTo>
                    <a:pt x="553808" y="168499"/>
                    <a:pt x="447128" y="172309"/>
                    <a:pt x="386168" y="179929"/>
                  </a:cubicBezTo>
                  <a:cubicBezTo>
                    <a:pt x="345528" y="185009"/>
                    <a:pt x="313778" y="188819"/>
                    <a:pt x="282028" y="204059"/>
                  </a:cubicBezTo>
                  <a:cubicBezTo>
                    <a:pt x="251548" y="220569"/>
                    <a:pt x="198208" y="253589"/>
                    <a:pt x="200748" y="273909"/>
                  </a:cubicBezTo>
                  <a:cubicBezTo>
                    <a:pt x="203288" y="294229"/>
                    <a:pt x="261708" y="319629"/>
                    <a:pt x="299808" y="324709"/>
                  </a:cubicBezTo>
                  <a:cubicBezTo>
                    <a:pt x="348068" y="331059"/>
                    <a:pt x="434428" y="309469"/>
                    <a:pt x="471258" y="285339"/>
                  </a:cubicBezTo>
                  <a:cubicBezTo>
                    <a:pt x="495388" y="270099"/>
                    <a:pt x="490308" y="242159"/>
                    <a:pt x="515708" y="224379"/>
                  </a:cubicBezTo>
                  <a:cubicBezTo>
                    <a:pt x="558888" y="192629"/>
                    <a:pt x="685888" y="190089"/>
                    <a:pt x="737958" y="155799"/>
                  </a:cubicBezTo>
                  <a:cubicBezTo>
                    <a:pt x="776058" y="130399"/>
                    <a:pt x="782408" y="80869"/>
                    <a:pt x="817968" y="59279"/>
                  </a:cubicBezTo>
                  <a:cubicBezTo>
                    <a:pt x="857338" y="35149"/>
                    <a:pt x="936078" y="21179"/>
                    <a:pt x="967828" y="24989"/>
                  </a:cubicBezTo>
                  <a:cubicBezTo>
                    <a:pt x="983068" y="27529"/>
                    <a:pt x="990688" y="33879"/>
                    <a:pt x="1000848" y="42769"/>
                  </a:cubicBezTo>
                  <a:cubicBezTo>
                    <a:pt x="1012278" y="52929"/>
                    <a:pt x="1024978" y="73249"/>
                    <a:pt x="1026248" y="91029"/>
                  </a:cubicBezTo>
                  <a:cubicBezTo>
                    <a:pt x="1027518" y="111349"/>
                    <a:pt x="1019898" y="140559"/>
                    <a:pt x="1002118" y="158339"/>
                  </a:cubicBezTo>
                  <a:cubicBezTo>
                    <a:pt x="979258" y="181199"/>
                    <a:pt x="924648" y="192629"/>
                    <a:pt x="885278" y="200249"/>
                  </a:cubicBezTo>
                  <a:cubicBezTo>
                    <a:pt x="848448" y="207869"/>
                    <a:pt x="778598" y="191359"/>
                    <a:pt x="774788" y="202789"/>
                  </a:cubicBezTo>
                  <a:cubicBezTo>
                    <a:pt x="770978" y="212949"/>
                    <a:pt x="828128" y="261209"/>
                    <a:pt x="852258" y="259939"/>
                  </a:cubicBezTo>
                  <a:cubicBezTo>
                    <a:pt x="872578" y="259939"/>
                    <a:pt x="889088" y="219299"/>
                    <a:pt x="908138" y="214219"/>
                  </a:cubicBezTo>
                  <a:cubicBezTo>
                    <a:pt x="925918" y="209139"/>
                    <a:pt x="948778" y="212949"/>
                    <a:pt x="964018" y="221839"/>
                  </a:cubicBezTo>
                  <a:cubicBezTo>
                    <a:pt x="979258" y="230729"/>
                    <a:pt x="993228" y="248509"/>
                    <a:pt x="999578" y="265019"/>
                  </a:cubicBezTo>
                  <a:cubicBezTo>
                    <a:pt x="1004658" y="281529"/>
                    <a:pt x="1004658" y="303119"/>
                    <a:pt x="997038" y="320899"/>
                  </a:cubicBezTo>
                  <a:cubicBezTo>
                    <a:pt x="989418" y="341219"/>
                    <a:pt x="970368" y="361539"/>
                    <a:pt x="947508" y="375509"/>
                  </a:cubicBezTo>
                  <a:cubicBezTo>
                    <a:pt x="917028" y="395829"/>
                    <a:pt x="863688" y="404719"/>
                    <a:pt x="820508" y="413609"/>
                  </a:cubicBezTo>
                  <a:cubicBezTo>
                    <a:pt x="776058" y="422499"/>
                    <a:pt x="734148" y="427579"/>
                    <a:pt x="684618" y="430119"/>
                  </a:cubicBezTo>
                  <a:cubicBezTo>
                    <a:pt x="626198" y="431389"/>
                    <a:pt x="527138" y="433929"/>
                    <a:pt x="491578" y="422499"/>
                  </a:cubicBezTo>
                  <a:cubicBezTo>
                    <a:pt x="475068" y="418689"/>
                    <a:pt x="468718" y="413609"/>
                    <a:pt x="459828" y="403449"/>
                  </a:cubicBezTo>
                  <a:cubicBezTo>
                    <a:pt x="449668" y="392019"/>
                    <a:pt x="438238" y="371699"/>
                    <a:pt x="436968" y="353919"/>
                  </a:cubicBezTo>
                  <a:cubicBezTo>
                    <a:pt x="436968" y="337409"/>
                    <a:pt x="444588" y="314549"/>
                    <a:pt x="453478" y="301849"/>
                  </a:cubicBezTo>
                  <a:cubicBezTo>
                    <a:pt x="461098" y="291689"/>
                    <a:pt x="467448" y="285339"/>
                    <a:pt x="482688" y="278989"/>
                  </a:cubicBezTo>
                  <a:cubicBezTo>
                    <a:pt x="516978" y="265019"/>
                    <a:pt x="646518" y="237079"/>
                    <a:pt x="675728" y="259939"/>
                  </a:cubicBezTo>
                  <a:cubicBezTo>
                    <a:pt x="696048" y="276449"/>
                    <a:pt x="699858" y="336139"/>
                    <a:pt x="685888" y="352649"/>
                  </a:cubicBezTo>
                  <a:cubicBezTo>
                    <a:pt x="670648" y="369159"/>
                    <a:pt x="607148" y="358999"/>
                    <a:pt x="580478" y="351379"/>
                  </a:cubicBezTo>
                  <a:cubicBezTo>
                    <a:pt x="560158" y="345029"/>
                    <a:pt x="544918" y="334869"/>
                    <a:pt x="536028" y="320899"/>
                  </a:cubicBezTo>
                  <a:cubicBezTo>
                    <a:pt x="524598" y="303119"/>
                    <a:pt x="520788" y="268829"/>
                    <a:pt x="527138" y="249779"/>
                  </a:cubicBezTo>
                  <a:cubicBezTo>
                    <a:pt x="532218" y="233269"/>
                    <a:pt x="549998" y="218029"/>
                    <a:pt x="562698" y="209139"/>
                  </a:cubicBezTo>
                  <a:cubicBezTo>
                    <a:pt x="574128" y="202789"/>
                    <a:pt x="598258" y="201519"/>
                    <a:pt x="598258" y="20151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906078" y="9392602"/>
            <a:ext cx="478155" cy="323850"/>
            <a:chOff x="0" y="0"/>
            <a:chExt cx="637540" cy="431800"/>
          </a:xfrm>
        </p:grpSpPr>
        <p:sp>
          <p:nvSpPr>
            <p:cNvPr id="12" name="Freeform 12"/>
            <p:cNvSpPr/>
            <p:nvPr/>
          </p:nvSpPr>
          <p:spPr>
            <a:xfrm>
              <a:off x="46351" y="49816"/>
              <a:ext cx="539119" cy="338688"/>
            </a:xfrm>
            <a:custGeom>
              <a:avLst/>
              <a:gdLst/>
              <a:ahLst/>
              <a:cxnLst/>
              <a:rect l="l" t="t" r="r" b="b"/>
              <a:pathLst>
                <a:path w="539119" h="338688">
                  <a:moveTo>
                    <a:pt x="481969" y="284194"/>
                  </a:moveTo>
                  <a:cubicBezTo>
                    <a:pt x="210189" y="332454"/>
                    <a:pt x="131449" y="350234"/>
                    <a:pt x="84459" y="331184"/>
                  </a:cubicBezTo>
                  <a:cubicBezTo>
                    <a:pt x="47629" y="315944"/>
                    <a:pt x="14609" y="282924"/>
                    <a:pt x="4449" y="247364"/>
                  </a:cubicBezTo>
                  <a:cubicBezTo>
                    <a:pt x="-9521" y="204184"/>
                    <a:pt x="12069" y="121634"/>
                    <a:pt x="32389" y="82264"/>
                  </a:cubicBezTo>
                  <a:cubicBezTo>
                    <a:pt x="47629" y="51784"/>
                    <a:pt x="70489" y="30194"/>
                    <a:pt x="94619" y="17494"/>
                  </a:cubicBezTo>
                  <a:cubicBezTo>
                    <a:pt x="118749" y="4794"/>
                    <a:pt x="149229" y="-2826"/>
                    <a:pt x="177169" y="984"/>
                  </a:cubicBezTo>
                  <a:cubicBezTo>
                    <a:pt x="210189" y="6064"/>
                    <a:pt x="248289" y="30194"/>
                    <a:pt x="280039" y="51784"/>
                  </a:cubicBezTo>
                  <a:cubicBezTo>
                    <a:pt x="311789" y="73374"/>
                    <a:pt x="349889" y="106394"/>
                    <a:pt x="367669" y="131794"/>
                  </a:cubicBezTo>
                  <a:cubicBezTo>
                    <a:pt x="379099" y="148304"/>
                    <a:pt x="386719" y="162274"/>
                    <a:pt x="386719" y="178784"/>
                  </a:cubicBezTo>
                  <a:cubicBezTo>
                    <a:pt x="387989" y="195294"/>
                    <a:pt x="382909" y="214344"/>
                    <a:pt x="374019" y="228314"/>
                  </a:cubicBezTo>
                  <a:cubicBezTo>
                    <a:pt x="365129" y="242284"/>
                    <a:pt x="348619" y="254984"/>
                    <a:pt x="333379" y="260064"/>
                  </a:cubicBezTo>
                  <a:cubicBezTo>
                    <a:pt x="318139" y="265144"/>
                    <a:pt x="297819" y="265144"/>
                    <a:pt x="282579" y="260064"/>
                  </a:cubicBezTo>
                  <a:cubicBezTo>
                    <a:pt x="267339" y="254984"/>
                    <a:pt x="250829" y="243554"/>
                    <a:pt x="240669" y="229584"/>
                  </a:cubicBezTo>
                  <a:cubicBezTo>
                    <a:pt x="231779" y="216884"/>
                    <a:pt x="224159" y="197834"/>
                    <a:pt x="226699" y="180054"/>
                  </a:cubicBezTo>
                  <a:cubicBezTo>
                    <a:pt x="229239" y="159734"/>
                    <a:pt x="245749" y="126714"/>
                    <a:pt x="264799" y="115284"/>
                  </a:cubicBezTo>
                  <a:cubicBezTo>
                    <a:pt x="283849" y="103854"/>
                    <a:pt x="319409" y="101314"/>
                    <a:pt x="339729" y="110204"/>
                  </a:cubicBezTo>
                  <a:cubicBezTo>
                    <a:pt x="360049" y="120364"/>
                    <a:pt x="382909" y="148304"/>
                    <a:pt x="386719" y="169894"/>
                  </a:cubicBezTo>
                  <a:cubicBezTo>
                    <a:pt x="390529" y="191484"/>
                    <a:pt x="379099" y="225774"/>
                    <a:pt x="362589" y="242284"/>
                  </a:cubicBezTo>
                  <a:cubicBezTo>
                    <a:pt x="347349" y="257524"/>
                    <a:pt x="315599" y="266414"/>
                    <a:pt x="290199" y="262604"/>
                  </a:cubicBezTo>
                  <a:cubicBezTo>
                    <a:pt x="255909" y="256254"/>
                    <a:pt x="174629" y="200374"/>
                    <a:pt x="178439" y="183864"/>
                  </a:cubicBezTo>
                  <a:cubicBezTo>
                    <a:pt x="182249" y="167354"/>
                    <a:pt x="277499" y="177514"/>
                    <a:pt x="325759" y="168624"/>
                  </a:cubicBezTo>
                  <a:cubicBezTo>
                    <a:pt x="372749" y="159734"/>
                    <a:pt x="428629" y="131794"/>
                    <a:pt x="462919" y="133064"/>
                  </a:cubicBezTo>
                  <a:cubicBezTo>
                    <a:pt x="484509" y="134334"/>
                    <a:pt x="501019" y="140684"/>
                    <a:pt x="513719" y="152114"/>
                  </a:cubicBezTo>
                  <a:cubicBezTo>
                    <a:pt x="527689" y="167354"/>
                    <a:pt x="539119" y="200374"/>
                    <a:pt x="539119" y="219424"/>
                  </a:cubicBezTo>
                  <a:cubicBezTo>
                    <a:pt x="539119" y="232124"/>
                    <a:pt x="534039" y="243554"/>
                    <a:pt x="526419" y="253714"/>
                  </a:cubicBezTo>
                  <a:cubicBezTo>
                    <a:pt x="517529" y="265144"/>
                    <a:pt x="481969" y="284194"/>
                    <a:pt x="481969" y="28419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982815" y="9271773"/>
            <a:ext cx="770639" cy="486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550" y="335520"/>
            <a:ext cx="12931504" cy="985835"/>
            <a:chOff x="0" y="0"/>
            <a:chExt cx="17242006" cy="1314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41828" cy="1314414"/>
            </a:xfrm>
            <a:custGeom>
              <a:avLst/>
              <a:gdLst/>
              <a:ahLst/>
              <a:cxnLst/>
              <a:rect l="l" t="t" r="r" b="b"/>
              <a:pathLst>
                <a:path w="17241828" h="1314414">
                  <a:moveTo>
                    <a:pt x="0" y="0"/>
                  </a:moveTo>
                  <a:lnTo>
                    <a:pt x="17241828" y="0"/>
                  </a:lnTo>
                  <a:lnTo>
                    <a:pt x="17241828" y="1314414"/>
                  </a:lnTo>
                  <a:lnTo>
                    <a:pt x="0" y="1314414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3848149" y="511201"/>
            <a:ext cx="3411151" cy="634474"/>
            <a:chOff x="0" y="0"/>
            <a:chExt cx="4548201" cy="8459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2282582" y="1321356"/>
            <a:ext cx="13722837" cy="9022765"/>
          </a:xfrm>
          <a:custGeom>
            <a:avLst/>
            <a:gdLst/>
            <a:ahLst/>
            <a:cxnLst/>
            <a:rect l="l" t="t" r="r" b="b"/>
            <a:pathLst>
              <a:path w="13722837" h="9022765">
                <a:moveTo>
                  <a:pt x="0" y="0"/>
                </a:moveTo>
                <a:lnTo>
                  <a:pt x="13722836" y="0"/>
                </a:lnTo>
                <a:lnTo>
                  <a:pt x="13722836" y="9022765"/>
                </a:lnTo>
                <a:lnTo>
                  <a:pt x="0" y="9022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282041" y="499848"/>
            <a:ext cx="6508845" cy="66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Casos de Uso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7835" y="1770295"/>
            <a:ext cx="14652330" cy="2514600"/>
            <a:chOff x="0" y="0"/>
            <a:chExt cx="3859050" cy="6622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59050" cy="662281"/>
            </a:xfrm>
            <a:custGeom>
              <a:avLst/>
              <a:gdLst/>
              <a:ahLst/>
              <a:cxnLst/>
              <a:rect l="l" t="t" r="r" b="b"/>
              <a:pathLst>
                <a:path w="3859050" h="662281">
                  <a:moveTo>
                    <a:pt x="12681" y="0"/>
                  </a:moveTo>
                  <a:lnTo>
                    <a:pt x="3846369" y="0"/>
                  </a:lnTo>
                  <a:cubicBezTo>
                    <a:pt x="3853372" y="0"/>
                    <a:pt x="3859050" y="5677"/>
                    <a:pt x="3859050" y="12681"/>
                  </a:cubicBezTo>
                  <a:lnTo>
                    <a:pt x="3859050" y="649600"/>
                  </a:lnTo>
                  <a:cubicBezTo>
                    <a:pt x="3859050" y="656604"/>
                    <a:pt x="3853372" y="662281"/>
                    <a:pt x="3846369" y="662281"/>
                  </a:cubicBezTo>
                  <a:lnTo>
                    <a:pt x="12681" y="662281"/>
                  </a:lnTo>
                  <a:cubicBezTo>
                    <a:pt x="5677" y="662281"/>
                    <a:pt x="0" y="656604"/>
                    <a:pt x="0" y="649600"/>
                  </a:cubicBezTo>
                  <a:lnTo>
                    <a:pt x="0" y="12681"/>
                  </a:lnTo>
                  <a:cubicBezTo>
                    <a:pt x="0" y="5677"/>
                    <a:pt x="5677" y="0"/>
                    <a:pt x="12681" y="0"/>
                  </a:cubicBezTo>
                  <a:close/>
                </a:path>
              </a:pathLst>
            </a:custGeom>
            <a:solidFill>
              <a:srgbClr val="E6F0FA">
                <a:alpha val="53725"/>
              </a:srgbClr>
            </a:solidFill>
            <a:ln w="47625" cap="rnd">
              <a:solidFill>
                <a:srgbClr val="003DA5">
                  <a:alpha val="53725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59050" cy="700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62767" y="2214160"/>
            <a:ext cx="13590958" cy="167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6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Objetivo General</a:t>
            </a:r>
          </a:p>
          <a:p>
            <a:pPr algn="l">
              <a:lnSpc>
                <a:spcPts val="2699"/>
              </a:lnSpc>
            </a:pPr>
            <a:endParaRPr lang="en-US" sz="2699" b="1">
              <a:solidFill>
                <a:srgbClr val="000000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  <a:p>
            <a:pPr algn="l">
              <a:lnSpc>
                <a:spcPts val="2699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Desarrollar una plataforma digital que optimice la gestión del taller, automatizando procesos clave para mejorar la trazabilidad, eficiencia y transparencia de las operaciones.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62767" y="4618311"/>
            <a:ext cx="4045369" cy="100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Objetivos Específicos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899" b="1">
              <a:solidFill>
                <a:srgbClr val="000000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38534" y="660377"/>
            <a:ext cx="11186866" cy="669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Nuestra Misión y </a:t>
            </a:r>
            <a:r>
              <a:rPr lang="en-US" sz="399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</a:t>
            </a:r>
            <a:r>
              <a:rPr lang="en-US" sz="39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Pasos para </a:t>
            </a:r>
            <a:r>
              <a:rPr lang="en-US" sz="3999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Lograrla</a:t>
            </a:r>
            <a:endParaRPr lang="en-US" sz="3999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2255691" y="5621064"/>
            <a:ext cx="650017" cy="479388"/>
          </a:xfrm>
          <a:custGeom>
            <a:avLst/>
            <a:gdLst/>
            <a:ahLst/>
            <a:cxnLst/>
            <a:rect l="l" t="t" r="r" b="b"/>
            <a:pathLst>
              <a:path w="650017" h="479388">
                <a:moveTo>
                  <a:pt x="0" y="0"/>
                </a:moveTo>
                <a:lnTo>
                  <a:pt x="650017" y="0"/>
                </a:lnTo>
                <a:lnTo>
                  <a:pt x="650017" y="479388"/>
                </a:lnTo>
                <a:lnTo>
                  <a:pt x="0" y="479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2986364" y="5592766"/>
            <a:ext cx="10549599" cy="48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Implementar un sistema de perfiles y roles diferenciados.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98642" y="6971551"/>
            <a:ext cx="10717358" cy="486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Automatizar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registro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vehículos con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tecnología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QR.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80699" y="6218301"/>
            <a:ext cx="13590958" cy="48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Desarrollar un módulo de agendamiento de horas para mantenciones.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73301" y="7684763"/>
            <a:ext cx="11170598" cy="48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Crear un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sistema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reportes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notificaciones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tiempo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real.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93199" y="8362607"/>
            <a:ext cx="10904803" cy="488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Garantizar una arquitectura de software escalable y segura.</a:t>
            </a:r>
          </a:p>
        </p:txBody>
      </p:sp>
      <p:sp>
        <p:nvSpPr>
          <p:cNvPr id="14" name="Freeform 14"/>
          <p:cNvSpPr/>
          <p:nvPr/>
        </p:nvSpPr>
        <p:spPr>
          <a:xfrm>
            <a:off x="2255691" y="6265926"/>
            <a:ext cx="650017" cy="479388"/>
          </a:xfrm>
          <a:custGeom>
            <a:avLst/>
            <a:gdLst/>
            <a:ahLst/>
            <a:cxnLst/>
            <a:rect l="l" t="t" r="r" b="b"/>
            <a:pathLst>
              <a:path w="650017" h="479388">
                <a:moveTo>
                  <a:pt x="0" y="0"/>
                </a:moveTo>
                <a:lnTo>
                  <a:pt x="650017" y="0"/>
                </a:lnTo>
                <a:lnTo>
                  <a:pt x="650017" y="479388"/>
                </a:lnTo>
                <a:lnTo>
                  <a:pt x="0" y="479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2255691" y="6989494"/>
            <a:ext cx="650017" cy="479388"/>
          </a:xfrm>
          <a:custGeom>
            <a:avLst/>
            <a:gdLst/>
            <a:ahLst/>
            <a:cxnLst/>
            <a:rect l="l" t="t" r="r" b="b"/>
            <a:pathLst>
              <a:path w="650017" h="479388">
                <a:moveTo>
                  <a:pt x="0" y="0"/>
                </a:moveTo>
                <a:lnTo>
                  <a:pt x="650017" y="0"/>
                </a:lnTo>
                <a:lnTo>
                  <a:pt x="650017" y="479387"/>
                </a:lnTo>
                <a:lnTo>
                  <a:pt x="0" y="479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2255691" y="7713061"/>
            <a:ext cx="650017" cy="479388"/>
          </a:xfrm>
          <a:custGeom>
            <a:avLst/>
            <a:gdLst/>
            <a:ahLst/>
            <a:cxnLst/>
            <a:rect l="l" t="t" r="r" b="b"/>
            <a:pathLst>
              <a:path w="650017" h="479388">
                <a:moveTo>
                  <a:pt x="0" y="0"/>
                </a:moveTo>
                <a:lnTo>
                  <a:pt x="650017" y="0"/>
                </a:lnTo>
                <a:lnTo>
                  <a:pt x="650017" y="479388"/>
                </a:lnTo>
                <a:lnTo>
                  <a:pt x="0" y="479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2255691" y="8410232"/>
            <a:ext cx="650017" cy="479388"/>
          </a:xfrm>
          <a:custGeom>
            <a:avLst/>
            <a:gdLst/>
            <a:ahLst/>
            <a:cxnLst/>
            <a:rect l="l" t="t" r="r" b="b"/>
            <a:pathLst>
              <a:path w="650017" h="479388">
                <a:moveTo>
                  <a:pt x="0" y="0"/>
                </a:moveTo>
                <a:lnTo>
                  <a:pt x="650017" y="0"/>
                </a:lnTo>
                <a:lnTo>
                  <a:pt x="650017" y="479387"/>
                </a:lnTo>
                <a:lnTo>
                  <a:pt x="0" y="479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948150" y="9078385"/>
            <a:ext cx="3411151" cy="634474"/>
            <a:chOff x="0" y="0"/>
            <a:chExt cx="4548201" cy="84596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1570804"/>
            <a:ext cx="0" cy="7961878"/>
          </a:xfrm>
          <a:prstGeom prst="line">
            <a:avLst/>
          </a:prstGeom>
          <a:ln w="38100" cap="flat">
            <a:solidFill>
              <a:srgbClr val="000000">
                <a:alpha val="4392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675888" y="3043843"/>
            <a:ext cx="554101" cy="408650"/>
          </a:xfrm>
          <a:custGeom>
            <a:avLst/>
            <a:gdLst/>
            <a:ahLst/>
            <a:cxnLst/>
            <a:rect l="l" t="t" r="r" b="b"/>
            <a:pathLst>
              <a:path w="554101" h="408650">
                <a:moveTo>
                  <a:pt x="0" y="0"/>
                </a:moveTo>
                <a:lnTo>
                  <a:pt x="554101" y="0"/>
                </a:lnTo>
                <a:lnTo>
                  <a:pt x="554101" y="408650"/>
                </a:lnTo>
                <a:lnTo>
                  <a:pt x="0" y="408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675888" y="1028700"/>
            <a:ext cx="1679088" cy="1679088"/>
          </a:xfrm>
          <a:custGeom>
            <a:avLst/>
            <a:gdLst/>
            <a:ahLst/>
            <a:cxnLst/>
            <a:rect l="l" t="t" r="r" b="b"/>
            <a:pathLst>
              <a:path w="1679088" h="1679088">
                <a:moveTo>
                  <a:pt x="0" y="0"/>
                </a:moveTo>
                <a:lnTo>
                  <a:pt x="1679088" y="0"/>
                </a:lnTo>
                <a:lnTo>
                  <a:pt x="1679088" y="1679088"/>
                </a:lnTo>
                <a:lnTo>
                  <a:pt x="0" y="16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9637747" y="996616"/>
            <a:ext cx="1679088" cy="1711173"/>
          </a:xfrm>
          <a:custGeom>
            <a:avLst/>
            <a:gdLst/>
            <a:ahLst/>
            <a:cxnLst/>
            <a:rect l="l" t="t" r="r" b="b"/>
            <a:pathLst>
              <a:path w="1679088" h="1711173">
                <a:moveTo>
                  <a:pt x="0" y="0"/>
                </a:moveTo>
                <a:lnTo>
                  <a:pt x="1679088" y="0"/>
                </a:lnTo>
                <a:lnTo>
                  <a:pt x="1679088" y="1711172"/>
                </a:lnTo>
                <a:lnTo>
                  <a:pt x="0" y="17111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3948150" y="9078385"/>
            <a:ext cx="3411151" cy="634474"/>
            <a:chOff x="0" y="0"/>
            <a:chExt cx="4548201" cy="8459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Freeform 8"/>
          <p:cNvSpPr/>
          <p:nvPr/>
        </p:nvSpPr>
        <p:spPr>
          <a:xfrm>
            <a:off x="675888" y="3835639"/>
            <a:ext cx="554101" cy="408650"/>
          </a:xfrm>
          <a:custGeom>
            <a:avLst/>
            <a:gdLst/>
            <a:ahLst/>
            <a:cxnLst/>
            <a:rect l="l" t="t" r="r" b="b"/>
            <a:pathLst>
              <a:path w="554101" h="408650">
                <a:moveTo>
                  <a:pt x="0" y="0"/>
                </a:moveTo>
                <a:lnTo>
                  <a:pt x="554101" y="0"/>
                </a:lnTo>
                <a:lnTo>
                  <a:pt x="554101" y="408650"/>
                </a:lnTo>
                <a:lnTo>
                  <a:pt x="0" y="408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766696" y="5338163"/>
            <a:ext cx="554101" cy="408650"/>
          </a:xfrm>
          <a:custGeom>
            <a:avLst/>
            <a:gdLst/>
            <a:ahLst/>
            <a:cxnLst/>
            <a:rect l="l" t="t" r="r" b="b"/>
            <a:pathLst>
              <a:path w="554101" h="408650">
                <a:moveTo>
                  <a:pt x="0" y="0"/>
                </a:moveTo>
                <a:lnTo>
                  <a:pt x="554102" y="0"/>
                </a:lnTo>
                <a:lnTo>
                  <a:pt x="554102" y="408649"/>
                </a:lnTo>
                <a:lnTo>
                  <a:pt x="0" y="408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751649" y="6109782"/>
            <a:ext cx="554101" cy="408650"/>
          </a:xfrm>
          <a:custGeom>
            <a:avLst/>
            <a:gdLst/>
            <a:ahLst/>
            <a:cxnLst/>
            <a:rect l="l" t="t" r="r" b="b"/>
            <a:pathLst>
              <a:path w="554101" h="408650">
                <a:moveTo>
                  <a:pt x="0" y="0"/>
                </a:moveTo>
                <a:lnTo>
                  <a:pt x="554102" y="0"/>
                </a:lnTo>
                <a:lnTo>
                  <a:pt x="554102" y="408650"/>
                </a:lnTo>
                <a:lnTo>
                  <a:pt x="0" y="408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675888" y="7315524"/>
            <a:ext cx="554101" cy="408650"/>
          </a:xfrm>
          <a:custGeom>
            <a:avLst/>
            <a:gdLst/>
            <a:ahLst/>
            <a:cxnLst/>
            <a:rect l="l" t="t" r="r" b="b"/>
            <a:pathLst>
              <a:path w="554101" h="408650">
                <a:moveTo>
                  <a:pt x="0" y="0"/>
                </a:moveTo>
                <a:lnTo>
                  <a:pt x="554101" y="0"/>
                </a:lnTo>
                <a:lnTo>
                  <a:pt x="554101" y="408649"/>
                </a:lnTo>
                <a:lnTo>
                  <a:pt x="0" y="408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9637747" y="3043843"/>
            <a:ext cx="607732" cy="603312"/>
          </a:xfrm>
          <a:custGeom>
            <a:avLst/>
            <a:gdLst/>
            <a:ahLst/>
            <a:cxnLst/>
            <a:rect l="l" t="t" r="r" b="b"/>
            <a:pathLst>
              <a:path w="607732" h="603312">
                <a:moveTo>
                  <a:pt x="0" y="0"/>
                </a:moveTo>
                <a:lnTo>
                  <a:pt x="607732" y="0"/>
                </a:lnTo>
                <a:lnTo>
                  <a:pt x="607732" y="603312"/>
                </a:lnTo>
                <a:lnTo>
                  <a:pt x="0" y="6033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1320797" y="2980177"/>
            <a:ext cx="5765801" cy="486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Plataforma Web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Responsiva</a:t>
            </a:r>
            <a:endParaRPr lang="en-US" sz="29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15432" y="3678793"/>
            <a:ext cx="6838409" cy="100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Módulo de Agendamiento y Emergencias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15432" y="5290538"/>
            <a:ext cx="7133268" cy="48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Control de Acceso con tecnología QR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15432" y="5991192"/>
            <a:ext cx="7064821" cy="100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 de Perfiles y Roles (Chofer, Mecánico, Supervisor, etc.)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15432" y="7460715"/>
            <a:ext cx="7064821" cy="100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Notificaciones y Reportes Básicos de Gestión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75050" y="2996218"/>
            <a:ext cx="6488949" cy="486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es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una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Aplicación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9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Móvil</a:t>
            </a: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Nativa.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77291" y="3908772"/>
            <a:ext cx="5878821" cy="100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Sin Integración con sistemas ERP de PepsiCo (en esta fase).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77291" y="4987725"/>
            <a:ext cx="5878821" cy="100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Sin Módulo de Facturación o Costos.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25158" y="1504129"/>
            <a:ext cx="2397015" cy="669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81814" y="1504129"/>
            <a:ext cx="3406731" cy="669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Limitaciones</a:t>
            </a:r>
          </a:p>
        </p:txBody>
      </p:sp>
      <p:sp>
        <p:nvSpPr>
          <p:cNvPr id="23" name="Freeform 23"/>
          <p:cNvSpPr/>
          <p:nvPr/>
        </p:nvSpPr>
        <p:spPr>
          <a:xfrm>
            <a:off x="9637747" y="3956397"/>
            <a:ext cx="607732" cy="603312"/>
          </a:xfrm>
          <a:custGeom>
            <a:avLst/>
            <a:gdLst/>
            <a:ahLst/>
            <a:cxnLst/>
            <a:rect l="l" t="t" r="r" b="b"/>
            <a:pathLst>
              <a:path w="607732" h="603312">
                <a:moveTo>
                  <a:pt x="0" y="0"/>
                </a:moveTo>
                <a:lnTo>
                  <a:pt x="607732" y="0"/>
                </a:lnTo>
                <a:lnTo>
                  <a:pt x="607732" y="603312"/>
                </a:lnTo>
                <a:lnTo>
                  <a:pt x="0" y="6033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9637747" y="5143500"/>
            <a:ext cx="607732" cy="603312"/>
          </a:xfrm>
          <a:custGeom>
            <a:avLst/>
            <a:gdLst/>
            <a:ahLst/>
            <a:cxnLst/>
            <a:rect l="l" t="t" r="r" b="b"/>
            <a:pathLst>
              <a:path w="607732" h="603312">
                <a:moveTo>
                  <a:pt x="0" y="0"/>
                </a:moveTo>
                <a:lnTo>
                  <a:pt x="607732" y="0"/>
                </a:lnTo>
                <a:lnTo>
                  <a:pt x="607732" y="603312"/>
                </a:lnTo>
                <a:lnTo>
                  <a:pt x="0" y="6033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9878" y="3202640"/>
            <a:ext cx="1602746" cy="1057812"/>
            <a:chOff x="0" y="0"/>
            <a:chExt cx="635000" cy="419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94344" y="0"/>
                  </a:moveTo>
                  <a:lnTo>
                    <a:pt x="540656" y="0"/>
                  </a:lnTo>
                  <a:cubicBezTo>
                    <a:pt x="565678" y="0"/>
                    <a:pt x="589674" y="9940"/>
                    <a:pt x="607367" y="27633"/>
                  </a:cubicBezTo>
                  <a:cubicBezTo>
                    <a:pt x="625060" y="45326"/>
                    <a:pt x="635000" y="69322"/>
                    <a:pt x="635000" y="94344"/>
                  </a:cubicBezTo>
                  <a:lnTo>
                    <a:pt x="635000" y="324756"/>
                  </a:lnTo>
                  <a:cubicBezTo>
                    <a:pt x="635000" y="349778"/>
                    <a:pt x="625060" y="373774"/>
                    <a:pt x="607367" y="391467"/>
                  </a:cubicBezTo>
                  <a:cubicBezTo>
                    <a:pt x="589674" y="409160"/>
                    <a:pt x="565678" y="419100"/>
                    <a:pt x="540656" y="419100"/>
                  </a:cubicBezTo>
                  <a:lnTo>
                    <a:pt x="94344" y="419100"/>
                  </a:lnTo>
                  <a:cubicBezTo>
                    <a:pt x="69322" y="419100"/>
                    <a:pt x="45326" y="409160"/>
                    <a:pt x="27633" y="391467"/>
                  </a:cubicBezTo>
                  <a:cubicBezTo>
                    <a:pt x="9940" y="373774"/>
                    <a:pt x="0" y="349778"/>
                    <a:pt x="0" y="324756"/>
                  </a:cubicBezTo>
                  <a:lnTo>
                    <a:pt x="0" y="94344"/>
                  </a:lnTo>
                  <a:cubicBezTo>
                    <a:pt x="0" y="69322"/>
                    <a:pt x="9940" y="45326"/>
                    <a:pt x="27633" y="27633"/>
                  </a:cubicBezTo>
                  <a:cubicBezTo>
                    <a:pt x="45326" y="9940"/>
                    <a:pt x="69322" y="0"/>
                    <a:pt x="94344" y="0"/>
                  </a:cubicBez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Iniciación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4415" y="5053217"/>
            <a:ext cx="8011675" cy="1859090"/>
            <a:chOff x="0" y="0"/>
            <a:chExt cx="2110105" cy="4897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0105" cy="489712"/>
            </a:xfrm>
            <a:custGeom>
              <a:avLst/>
              <a:gdLst/>
              <a:ahLst/>
              <a:cxnLst/>
              <a:rect l="l" t="t" r="r" b="b"/>
              <a:pathLst>
                <a:path w="2110105" h="489712">
                  <a:moveTo>
                    <a:pt x="2110105" y="55081"/>
                  </a:moveTo>
                  <a:lnTo>
                    <a:pt x="2110105" y="434631"/>
                  </a:lnTo>
                  <a:cubicBezTo>
                    <a:pt x="2110105" y="465052"/>
                    <a:pt x="2085444" y="489712"/>
                    <a:pt x="2055024" y="489712"/>
                  </a:cubicBezTo>
                  <a:lnTo>
                    <a:pt x="55081" y="489712"/>
                  </a:lnTo>
                  <a:cubicBezTo>
                    <a:pt x="24661" y="489712"/>
                    <a:pt x="0" y="465052"/>
                    <a:pt x="0" y="434631"/>
                  </a:cubicBezTo>
                  <a:lnTo>
                    <a:pt x="0" y="55081"/>
                  </a:lnTo>
                  <a:cubicBezTo>
                    <a:pt x="0" y="24661"/>
                    <a:pt x="24661" y="0"/>
                    <a:pt x="55081" y="0"/>
                  </a:cubicBezTo>
                  <a:lnTo>
                    <a:pt x="2055024" y="0"/>
                  </a:lnTo>
                  <a:cubicBezTo>
                    <a:pt x="2085444" y="0"/>
                    <a:pt x="2110105" y="24661"/>
                    <a:pt x="2110105" y="55081"/>
                  </a:cubicBezTo>
                  <a:close/>
                </a:path>
              </a:pathLst>
            </a:custGeom>
            <a:solidFill>
              <a:srgbClr val="B4B4B4">
                <a:alpha val="52941"/>
              </a:srgbClr>
            </a:solidFill>
            <a:ln w="38100" cap="rnd">
              <a:solidFill>
                <a:srgbClr val="000000">
                  <a:alpha val="5294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110105" cy="489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655549" y="3202640"/>
            <a:ext cx="1602746" cy="1057812"/>
            <a:chOff x="0" y="0"/>
            <a:chExt cx="635000" cy="419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94344" y="0"/>
                  </a:moveTo>
                  <a:lnTo>
                    <a:pt x="540656" y="0"/>
                  </a:lnTo>
                  <a:cubicBezTo>
                    <a:pt x="565678" y="0"/>
                    <a:pt x="589674" y="9940"/>
                    <a:pt x="607367" y="27633"/>
                  </a:cubicBezTo>
                  <a:cubicBezTo>
                    <a:pt x="625060" y="45326"/>
                    <a:pt x="635000" y="69322"/>
                    <a:pt x="635000" y="94344"/>
                  </a:cubicBezTo>
                  <a:lnTo>
                    <a:pt x="635000" y="324756"/>
                  </a:lnTo>
                  <a:cubicBezTo>
                    <a:pt x="635000" y="349778"/>
                    <a:pt x="625060" y="373774"/>
                    <a:pt x="607367" y="391467"/>
                  </a:cubicBezTo>
                  <a:cubicBezTo>
                    <a:pt x="589674" y="409160"/>
                    <a:pt x="565678" y="419100"/>
                    <a:pt x="540656" y="419100"/>
                  </a:cubicBezTo>
                  <a:lnTo>
                    <a:pt x="94344" y="419100"/>
                  </a:lnTo>
                  <a:cubicBezTo>
                    <a:pt x="69322" y="419100"/>
                    <a:pt x="45326" y="409160"/>
                    <a:pt x="27633" y="391467"/>
                  </a:cubicBezTo>
                  <a:cubicBezTo>
                    <a:pt x="9940" y="373774"/>
                    <a:pt x="0" y="349778"/>
                    <a:pt x="0" y="324756"/>
                  </a:cubicBezTo>
                  <a:lnTo>
                    <a:pt x="0" y="94344"/>
                  </a:lnTo>
                  <a:cubicBezTo>
                    <a:pt x="0" y="69322"/>
                    <a:pt x="9940" y="45326"/>
                    <a:pt x="27633" y="27633"/>
                  </a:cubicBezTo>
                  <a:cubicBezTo>
                    <a:pt x="45326" y="9940"/>
                    <a:pt x="69322" y="0"/>
                    <a:pt x="94344" y="0"/>
                  </a:cubicBez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Análisis y Diseño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52101" y="3221690"/>
            <a:ext cx="1602746" cy="1057812"/>
            <a:chOff x="0" y="0"/>
            <a:chExt cx="635000" cy="419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94344" y="0"/>
                  </a:moveTo>
                  <a:lnTo>
                    <a:pt x="540656" y="0"/>
                  </a:lnTo>
                  <a:cubicBezTo>
                    <a:pt x="565678" y="0"/>
                    <a:pt x="589674" y="9940"/>
                    <a:pt x="607367" y="27633"/>
                  </a:cubicBezTo>
                  <a:cubicBezTo>
                    <a:pt x="625060" y="45326"/>
                    <a:pt x="635000" y="69322"/>
                    <a:pt x="635000" y="94344"/>
                  </a:cubicBezTo>
                  <a:lnTo>
                    <a:pt x="635000" y="324756"/>
                  </a:lnTo>
                  <a:cubicBezTo>
                    <a:pt x="635000" y="349778"/>
                    <a:pt x="625060" y="373774"/>
                    <a:pt x="607367" y="391467"/>
                  </a:cubicBezTo>
                  <a:cubicBezTo>
                    <a:pt x="589674" y="409160"/>
                    <a:pt x="565678" y="419100"/>
                    <a:pt x="540656" y="419100"/>
                  </a:cubicBezTo>
                  <a:lnTo>
                    <a:pt x="94344" y="419100"/>
                  </a:lnTo>
                  <a:cubicBezTo>
                    <a:pt x="69322" y="419100"/>
                    <a:pt x="45326" y="409160"/>
                    <a:pt x="27633" y="391467"/>
                  </a:cubicBezTo>
                  <a:cubicBezTo>
                    <a:pt x="9940" y="373774"/>
                    <a:pt x="0" y="349778"/>
                    <a:pt x="0" y="324756"/>
                  </a:cubicBezTo>
                  <a:lnTo>
                    <a:pt x="0" y="94344"/>
                  </a:lnTo>
                  <a:cubicBezTo>
                    <a:pt x="0" y="69322"/>
                    <a:pt x="9940" y="45326"/>
                    <a:pt x="27633" y="27633"/>
                  </a:cubicBezTo>
                  <a:cubicBezTo>
                    <a:pt x="45326" y="9940"/>
                    <a:pt x="69322" y="0"/>
                    <a:pt x="94344" y="0"/>
                  </a:cubicBez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Desarrollo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17793" y="3202640"/>
            <a:ext cx="2066761" cy="1057812"/>
            <a:chOff x="0" y="0"/>
            <a:chExt cx="818840" cy="419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8840" cy="419100"/>
            </a:xfrm>
            <a:custGeom>
              <a:avLst/>
              <a:gdLst/>
              <a:ahLst/>
              <a:cxnLst/>
              <a:rect l="l" t="t" r="r" b="b"/>
              <a:pathLst>
                <a:path w="818840" h="419100">
                  <a:moveTo>
                    <a:pt x="73163" y="0"/>
                  </a:moveTo>
                  <a:lnTo>
                    <a:pt x="745678" y="0"/>
                  </a:lnTo>
                  <a:cubicBezTo>
                    <a:pt x="765082" y="0"/>
                    <a:pt x="783691" y="7708"/>
                    <a:pt x="797412" y="21429"/>
                  </a:cubicBezTo>
                  <a:cubicBezTo>
                    <a:pt x="811132" y="35149"/>
                    <a:pt x="818840" y="53759"/>
                    <a:pt x="818840" y="73163"/>
                  </a:cubicBezTo>
                  <a:lnTo>
                    <a:pt x="818840" y="345938"/>
                  </a:lnTo>
                  <a:cubicBezTo>
                    <a:pt x="818840" y="386344"/>
                    <a:pt x="786084" y="419100"/>
                    <a:pt x="745678" y="419100"/>
                  </a:cubicBezTo>
                  <a:lnTo>
                    <a:pt x="73163" y="419100"/>
                  </a:lnTo>
                  <a:cubicBezTo>
                    <a:pt x="32756" y="419100"/>
                    <a:pt x="0" y="386344"/>
                    <a:pt x="0" y="345938"/>
                  </a:cubicBezTo>
                  <a:lnTo>
                    <a:pt x="0" y="73163"/>
                  </a:lnTo>
                  <a:cubicBezTo>
                    <a:pt x="0" y="32756"/>
                    <a:pt x="32756" y="0"/>
                    <a:pt x="73163" y="0"/>
                  </a:cubicBez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884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Implementación y cierre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722631" y="4260452"/>
            <a:ext cx="132555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18" name="AutoShape 18"/>
          <p:cNvSpPr/>
          <p:nvPr/>
        </p:nvSpPr>
        <p:spPr>
          <a:xfrm>
            <a:off x="3996858" y="3202640"/>
            <a:ext cx="1096659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19" name="AutoShape 19"/>
          <p:cNvSpPr/>
          <p:nvPr/>
        </p:nvSpPr>
        <p:spPr>
          <a:xfrm flipV="1">
            <a:off x="5977628" y="4260452"/>
            <a:ext cx="1176221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20" name="AutoShape 20"/>
          <p:cNvSpPr/>
          <p:nvPr/>
        </p:nvSpPr>
        <p:spPr>
          <a:xfrm flipH="1">
            <a:off x="9144000" y="1905970"/>
            <a:ext cx="19050" cy="77906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9768828" y="2707273"/>
            <a:ext cx="7538097" cy="6551027"/>
          </a:xfrm>
          <a:custGeom>
            <a:avLst/>
            <a:gdLst/>
            <a:ahLst/>
            <a:cxnLst/>
            <a:rect l="l" t="t" r="r" b="b"/>
            <a:pathLst>
              <a:path w="7538097" h="6551027">
                <a:moveTo>
                  <a:pt x="0" y="0"/>
                </a:moveTo>
                <a:lnTo>
                  <a:pt x="7538097" y="0"/>
                </a:lnTo>
                <a:lnTo>
                  <a:pt x="7538097" y="6551027"/>
                </a:lnTo>
                <a:lnTo>
                  <a:pt x="0" y="6551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7" r="-105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662278" y="1672628"/>
            <a:ext cx="7245964" cy="81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Metodología: Cascada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7324" y="5475706"/>
            <a:ext cx="7185857" cy="1071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8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Justificación: Ideal para requerimientos claros, un equipo compacto y un plazo fijo de 17 semanas.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21203" y="1672628"/>
            <a:ext cx="4109194" cy="81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Cronograma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78855" y="217125"/>
            <a:ext cx="9611396" cy="81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Nuestro Plan de Ejecución</a:t>
            </a:r>
          </a:p>
        </p:txBody>
      </p: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3957675" y="9078385"/>
            <a:ext cx="3411151" cy="634474"/>
            <a:chOff x="0" y="0"/>
            <a:chExt cx="4548201" cy="84596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73720"/>
            <a:ext cx="16459823" cy="99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Etapas Principales de la Implementacion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9824" y="1856469"/>
            <a:ext cx="8468965" cy="712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1.Análisis del Proceso Actual.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•Revisión del flujo real: ingreso → diagnóstico → asignación → ejecución → cierre.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•Identificación de actores clave del taller PepsiCo: Coordinador, Supervisor, Jefe de Taller, Mecánico, Guardia.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2.Modelado y Diseño de la Solución.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•Flujo operacional modelado en Bizagi.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•Casos de uso y clases en StarUML.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•Diseño de BD en Supabase.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•Bocetos de interfaz y estructura de navegación.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3.Desarrollo de Funcionalidades.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•Interfaces y lógica del cliente en React + Vite + Tailwind.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•Backend sobre Supabase.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1856469"/>
            <a:ext cx="8267017" cy="712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•Implementación de los módulos del sistema: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Registro de ingreso del vehículo.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Diagnóstico inicial.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Asignación de trabajo.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Ejecución por mecánicos.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Revisión y cierre técnico.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 Reportes automáticos.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4.Integración y Pruebas.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•Pruebas por módulo y del flujo completo de OT.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•Depuración de roles, permisos y validación.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•Ajustes de interfaz y experiencia de usuario.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5.Implementación y Preparación Final.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•Despliegue en Render + Supabase.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•Documentación técnica del proyecto.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Preparación de presentación final.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6182" y="2472411"/>
            <a:ext cx="12886070" cy="7441705"/>
          </a:xfrm>
          <a:custGeom>
            <a:avLst/>
            <a:gdLst/>
            <a:ahLst/>
            <a:cxnLst/>
            <a:rect l="l" t="t" r="r" b="b"/>
            <a:pathLst>
              <a:path w="12886070" h="7441705">
                <a:moveTo>
                  <a:pt x="0" y="0"/>
                </a:moveTo>
                <a:lnTo>
                  <a:pt x="12886070" y="0"/>
                </a:lnTo>
                <a:lnTo>
                  <a:pt x="12886070" y="7441705"/>
                </a:lnTo>
                <a:lnTo>
                  <a:pt x="0" y="7441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69550" y="335520"/>
            <a:ext cx="12931504" cy="985835"/>
            <a:chOff x="0" y="0"/>
            <a:chExt cx="17242006" cy="13144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41828" cy="1314414"/>
            </a:xfrm>
            <a:custGeom>
              <a:avLst/>
              <a:gdLst/>
              <a:ahLst/>
              <a:cxnLst/>
              <a:rect l="l" t="t" r="r" b="b"/>
              <a:pathLst>
                <a:path w="17241828" h="1314414">
                  <a:moveTo>
                    <a:pt x="0" y="0"/>
                  </a:moveTo>
                  <a:lnTo>
                    <a:pt x="17241828" y="0"/>
                  </a:lnTo>
                  <a:lnTo>
                    <a:pt x="17241828" y="1314414"/>
                  </a:lnTo>
                  <a:lnTo>
                    <a:pt x="0" y="1314414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4259" y="379788"/>
            <a:ext cx="8959741" cy="81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Topología del proyecto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3666" y="1547172"/>
            <a:ext cx="13531538" cy="629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>
                <a:solidFill>
                  <a:srgbClr val="151F2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Arquitectura del software: Diagrama de Despliegue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948150" y="9078385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550" y="335520"/>
            <a:ext cx="12931504" cy="985835"/>
            <a:chOff x="0" y="0"/>
            <a:chExt cx="17242006" cy="1314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41828" cy="1314414"/>
            </a:xfrm>
            <a:custGeom>
              <a:avLst/>
              <a:gdLst/>
              <a:ahLst/>
              <a:cxnLst/>
              <a:rect l="l" t="t" r="r" b="b"/>
              <a:pathLst>
                <a:path w="17241828" h="1314414">
                  <a:moveTo>
                    <a:pt x="0" y="0"/>
                  </a:moveTo>
                  <a:lnTo>
                    <a:pt x="17241828" y="0"/>
                  </a:lnTo>
                  <a:lnTo>
                    <a:pt x="17241828" y="1314414"/>
                  </a:lnTo>
                  <a:lnTo>
                    <a:pt x="0" y="1314414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>
            <a:off x="722680" y="1721981"/>
            <a:ext cx="16636621" cy="7673641"/>
          </a:xfrm>
          <a:custGeom>
            <a:avLst/>
            <a:gdLst/>
            <a:ahLst/>
            <a:cxnLst/>
            <a:rect l="l" t="t" r="r" b="b"/>
            <a:pathLst>
              <a:path w="16636621" h="7673641">
                <a:moveTo>
                  <a:pt x="0" y="0"/>
                </a:moveTo>
                <a:lnTo>
                  <a:pt x="16636621" y="0"/>
                </a:lnTo>
                <a:lnTo>
                  <a:pt x="16636621" y="7673641"/>
                </a:lnTo>
                <a:lnTo>
                  <a:pt x="0" y="7673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324620" y="379788"/>
            <a:ext cx="5617282" cy="81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 de Datos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3948150" y="9078385"/>
            <a:ext cx="3411151" cy="634474"/>
            <a:chOff x="0" y="0"/>
            <a:chExt cx="4548201" cy="8459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957675" y="9078385"/>
            <a:ext cx="3411151" cy="634474"/>
            <a:chOff x="0" y="0"/>
            <a:chExt cx="4548201" cy="8459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550" y="335520"/>
            <a:ext cx="12931504" cy="985835"/>
            <a:chOff x="0" y="0"/>
            <a:chExt cx="17242006" cy="13144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241828" cy="1314414"/>
            </a:xfrm>
            <a:custGeom>
              <a:avLst/>
              <a:gdLst/>
              <a:ahLst/>
              <a:cxnLst/>
              <a:rect l="l" t="t" r="r" b="b"/>
              <a:pathLst>
                <a:path w="17241828" h="1314414">
                  <a:moveTo>
                    <a:pt x="0" y="0"/>
                  </a:moveTo>
                  <a:lnTo>
                    <a:pt x="17241828" y="0"/>
                  </a:lnTo>
                  <a:lnTo>
                    <a:pt x="17241828" y="1314414"/>
                  </a:lnTo>
                  <a:lnTo>
                    <a:pt x="0" y="1314414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473337" y="3026514"/>
            <a:ext cx="610546" cy="566936"/>
          </a:xfrm>
          <a:custGeom>
            <a:avLst/>
            <a:gdLst/>
            <a:ahLst/>
            <a:cxnLst/>
            <a:rect l="l" t="t" r="r" b="b"/>
            <a:pathLst>
              <a:path w="610546" h="566936">
                <a:moveTo>
                  <a:pt x="0" y="0"/>
                </a:moveTo>
                <a:lnTo>
                  <a:pt x="610546" y="0"/>
                </a:lnTo>
                <a:lnTo>
                  <a:pt x="610546" y="566936"/>
                </a:lnTo>
                <a:lnTo>
                  <a:pt x="0" y="566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594741" y="3803000"/>
            <a:ext cx="489142" cy="452909"/>
          </a:xfrm>
          <a:custGeom>
            <a:avLst/>
            <a:gdLst/>
            <a:ahLst/>
            <a:cxnLst/>
            <a:rect l="l" t="t" r="r" b="b"/>
            <a:pathLst>
              <a:path w="489142" h="452909">
                <a:moveTo>
                  <a:pt x="0" y="0"/>
                </a:moveTo>
                <a:lnTo>
                  <a:pt x="489142" y="0"/>
                </a:lnTo>
                <a:lnTo>
                  <a:pt x="489142" y="452909"/>
                </a:lnTo>
                <a:lnTo>
                  <a:pt x="0" y="4529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666734" y="4411736"/>
            <a:ext cx="480990" cy="365196"/>
          </a:xfrm>
          <a:custGeom>
            <a:avLst/>
            <a:gdLst/>
            <a:ahLst/>
            <a:cxnLst/>
            <a:rect l="l" t="t" r="r" b="b"/>
            <a:pathLst>
              <a:path w="480990" h="365196">
                <a:moveTo>
                  <a:pt x="0" y="0"/>
                </a:moveTo>
                <a:lnTo>
                  <a:pt x="480990" y="0"/>
                </a:lnTo>
                <a:lnTo>
                  <a:pt x="480990" y="365196"/>
                </a:lnTo>
                <a:lnTo>
                  <a:pt x="0" y="365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AutoShape 9"/>
          <p:cNvSpPr/>
          <p:nvPr/>
        </p:nvSpPr>
        <p:spPr>
          <a:xfrm>
            <a:off x="1028700" y="5143500"/>
            <a:ext cx="15974296" cy="0"/>
          </a:xfrm>
          <a:prstGeom prst="line">
            <a:avLst/>
          </a:prstGeom>
          <a:ln w="38100" cap="flat">
            <a:solidFill>
              <a:srgbClr val="000000">
                <a:alpha val="1764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" name="AutoShape 10"/>
          <p:cNvSpPr/>
          <p:nvPr/>
        </p:nvSpPr>
        <p:spPr>
          <a:xfrm flipV="1">
            <a:off x="8917777" y="1897380"/>
            <a:ext cx="0" cy="7815479"/>
          </a:xfrm>
          <a:prstGeom prst="line">
            <a:avLst/>
          </a:prstGeom>
          <a:ln w="38100" cap="flat">
            <a:solidFill>
              <a:srgbClr val="000000">
                <a:alpha val="16863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9744814" y="2869248"/>
            <a:ext cx="673352" cy="589183"/>
          </a:xfrm>
          <a:custGeom>
            <a:avLst/>
            <a:gdLst/>
            <a:ahLst/>
            <a:cxnLst/>
            <a:rect l="l" t="t" r="r" b="b"/>
            <a:pathLst>
              <a:path w="673352" h="589183">
                <a:moveTo>
                  <a:pt x="0" y="0"/>
                </a:moveTo>
                <a:lnTo>
                  <a:pt x="673352" y="0"/>
                </a:lnTo>
                <a:lnTo>
                  <a:pt x="673352" y="589183"/>
                </a:lnTo>
                <a:lnTo>
                  <a:pt x="0" y="5891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9789629" y="3593450"/>
            <a:ext cx="615965" cy="547524"/>
          </a:xfrm>
          <a:custGeom>
            <a:avLst/>
            <a:gdLst/>
            <a:ahLst/>
            <a:cxnLst/>
            <a:rect l="l" t="t" r="r" b="b"/>
            <a:pathLst>
              <a:path w="615965" h="547524">
                <a:moveTo>
                  <a:pt x="0" y="0"/>
                </a:moveTo>
                <a:lnTo>
                  <a:pt x="615965" y="0"/>
                </a:lnTo>
                <a:lnTo>
                  <a:pt x="615965" y="547524"/>
                </a:lnTo>
                <a:lnTo>
                  <a:pt x="0" y="5475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666734" y="6495159"/>
            <a:ext cx="601174" cy="545510"/>
          </a:xfrm>
          <a:custGeom>
            <a:avLst/>
            <a:gdLst/>
            <a:ahLst/>
            <a:cxnLst/>
            <a:rect l="l" t="t" r="r" b="b"/>
            <a:pathLst>
              <a:path w="601174" h="545510">
                <a:moveTo>
                  <a:pt x="0" y="0"/>
                </a:moveTo>
                <a:lnTo>
                  <a:pt x="601174" y="0"/>
                </a:lnTo>
                <a:lnTo>
                  <a:pt x="601174" y="545510"/>
                </a:lnTo>
                <a:lnTo>
                  <a:pt x="0" y="5455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638092" y="7193069"/>
            <a:ext cx="745988" cy="310828"/>
          </a:xfrm>
          <a:custGeom>
            <a:avLst/>
            <a:gdLst/>
            <a:ahLst/>
            <a:cxnLst/>
            <a:rect l="l" t="t" r="r" b="b"/>
            <a:pathLst>
              <a:path w="745988" h="310828">
                <a:moveTo>
                  <a:pt x="0" y="0"/>
                </a:moveTo>
                <a:lnTo>
                  <a:pt x="745988" y="0"/>
                </a:lnTo>
                <a:lnTo>
                  <a:pt x="745988" y="310828"/>
                </a:lnTo>
                <a:lnTo>
                  <a:pt x="0" y="3108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0001761" y="6599935"/>
            <a:ext cx="416405" cy="433755"/>
          </a:xfrm>
          <a:custGeom>
            <a:avLst/>
            <a:gdLst/>
            <a:ahLst/>
            <a:cxnLst/>
            <a:rect l="l" t="t" r="r" b="b"/>
            <a:pathLst>
              <a:path w="416405" h="433755">
                <a:moveTo>
                  <a:pt x="0" y="0"/>
                </a:moveTo>
                <a:lnTo>
                  <a:pt x="416405" y="0"/>
                </a:lnTo>
                <a:lnTo>
                  <a:pt x="416405" y="433755"/>
                </a:lnTo>
                <a:lnTo>
                  <a:pt x="0" y="4337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399610" y="526437"/>
            <a:ext cx="6722848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Tecnologias del Proyecto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69067" y="1830705"/>
            <a:ext cx="2350915" cy="596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Frontend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807777" y="1830705"/>
            <a:ext cx="504243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Base de datos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92393" y="5610369"/>
            <a:ext cx="2256003" cy="596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Backend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44814" y="5610369"/>
            <a:ext cx="671247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Infraestructura  y Despliegue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52775" y="2978890"/>
            <a:ext cx="1639617" cy="486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52776" y="3652615"/>
            <a:ext cx="1947664" cy="48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TypeScript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52776" y="4326342"/>
            <a:ext cx="2376737" cy="48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Tailwind CSS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97895" y="2821623"/>
            <a:ext cx="2456105" cy="486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PostgreSQL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97894" y="3545826"/>
            <a:ext cx="2075103" cy="486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Supabase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52776" y="6445394"/>
            <a:ext cx="1557579" cy="48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Node.js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84080" y="7114728"/>
            <a:ext cx="1526276" cy="48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Express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97895" y="6552310"/>
            <a:ext cx="1485860" cy="48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Render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9144000" y="2368594"/>
            <a:ext cx="0" cy="7561832"/>
          </a:xfrm>
          <a:prstGeom prst="line">
            <a:avLst/>
          </a:prstGeom>
          <a:ln w="38100" cap="flat">
            <a:solidFill>
              <a:srgbClr val="000000">
                <a:alpha val="2470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122951" y="3983383"/>
          <a:ext cx="6644240" cy="3162300"/>
        </p:xfrm>
        <a:graphic>
          <a:graphicData uri="http://schemas.openxmlformats.org/drawingml/2006/table">
            <a:tbl>
              <a:tblPr/>
              <a:tblGrid>
                <a:gridCol w="332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Descripcion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Resultado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de sesión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Login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Registro de Vehiculos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5907778" y="4208574"/>
            <a:ext cx="452150" cy="452150"/>
          </a:xfrm>
          <a:custGeom>
            <a:avLst/>
            <a:gdLst/>
            <a:ahLst/>
            <a:cxnLst/>
            <a:rect l="l" t="t" r="r" b="b"/>
            <a:pathLst>
              <a:path w="452150" h="452150">
                <a:moveTo>
                  <a:pt x="0" y="0"/>
                </a:moveTo>
                <a:lnTo>
                  <a:pt x="452149" y="0"/>
                </a:lnTo>
                <a:lnTo>
                  <a:pt x="452149" y="452149"/>
                </a:lnTo>
                <a:lnTo>
                  <a:pt x="0" y="452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4577699" y="4992685"/>
            <a:ext cx="301629" cy="301629"/>
          </a:xfrm>
          <a:custGeom>
            <a:avLst/>
            <a:gdLst/>
            <a:ahLst/>
            <a:cxnLst/>
            <a:rect l="l" t="t" r="r" b="b"/>
            <a:pathLst>
              <a:path w="301629" h="301629">
                <a:moveTo>
                  <a:pt x="0" y="0"/>
                </a:moveTo>
                <a:lnTo>
                  <a:pt x="301630" y="0"/>
                </a:lnTo>
                <a:lnTo>
                  <a:pt x="301630" y="301630"/>
                </a:lnTo>
                <a:lnTo>
                  <a:pt x="0" y="301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4577699" y="6578468"/>
            <a:ext cx="301629" cy="301629"/>
          </a:xfrm>
          <a:custGeom>
            <a:avLst/>
            <a:gdLst/>
            <a:ahLst/>
            <a:cxnLst/>
            <a:rect l="l" t="t" r="r" b="b"/>
            <a:pathLst>
              <a:path w="301629" h="301629">
                <a:moveTo>
                  <a:pt x="0" y="0"/>
                </a:moveTo>
                <a:lnTo>
                  <a:pt x="301630" y="0"/>
                </a:lnTo>
                <a:lnTo>
                  <a:pt x="301630" y="301629"/>
                </a:lnTo>
                <a:lnTo>
                  <a:pt x="0" y="3016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4577699" y="5755590"/>
            <a:ext cx="301629" cy="301629"/>
          </a:xfrm>
          <a:custGeom>
            <a:avLst/>
            <a:gdLst/>
            <a:ahLst/>
            <a:cxnLst/>
            <a:rect l="l" t="t" r="r" b="b"/>
            <a:pathLst>
              <a:path w="301629" h="301629">
                <a:moveTo>
                  <a:pt x="0" y="0"/>
                </a:moveTo>
                <a:lnTo>
                  <a:pt x="301630" y="0"/>
                </a:lnTo>
                <a:lnTo>
                  <a:pt x="301630" y="301630"/>
                </a:lnTo>
                <a:lnTo>
                  <a:pt x="0" y="301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787139" y="382433"/>
            <a:ext cx="16472161" cy="669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Garantizando la Calidad: Un Sistema Probado y Confiable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95150" y="1779926"/>
            <a:ext cx="6015862" cy="1392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7"/>
              </a:lnSpc>
              <a:spcBef>
                <a:spcPct val="0"/>
              </a:spcBef>
            </a:pPr>
            <a:r>
              <a:rPr lang="en-US" sz="40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Pruebas Unitarias (Vitest)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2079" y="4349583"/>
            <a:ext cx="5908933" cy="105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57/57 </a:t>
            </a:r>
            <a:r>
              <a:rPr lang="en-US" sz="6199" b="1">
                <a:solidFill>
                  <a:srgbClr val="14CE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PASSED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296729"/>
            <a:ext cx="7455691" cy="241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7"/>
              </a:lnSpc>
              <a:spcBef>
                <a:spcPct val="0"/>
              </a:spcBef>
            </a:pPr>
            <a:r>
              <a:rPr lang="en-US" sz="34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57 de 57</a:t>
            </a:r>
            <a:r>
              <a:rPr lang="en-US" sz="34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pruebas unitarias pasadas, asegurando la calidad del codigo a nivel de componente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94360" y="1797124"/>
            <a:ext cx="7301423" cy="1374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Pruebas funcionales (Caja Negra)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03609" y="7750219"/>
            <a:ext cx="7455691" cy="1180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Verificación exitosa de Casos de Uso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948150" y="9078385"/>
            <a:ext cx="3411151" cy="634474"/>
            <a:chOff x="0" y="0"/>
            <a:chExt cx="4548201" cy="8459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365173"/>
            <a:ext cx="16139324" cy="7202173"/>
          </a:xfrm>
          <a:custGeom>
            <a:avLst/>
            <a:gdLst/>
            <a:ahLst/>
            <a:cxnLst/>
            <a:rect l="l" t="t" r="r" b="b"/>
            <a:pathLst>
              <a:path w="16139324" h="7202173">
                <a:moveTo>
                  <a:pt x="0" y="0"/>
                </a:moveTo>
                <a:lnTo>
                  <a:pt x="16139324" y="0"/>
                </a:lnTo>
                <a:lnTo>
                  <a:pt x="16139324" y="7202173"/>
                </a:lnTo>
                <a:lnTo>
                  <a:pt x="0" y="7202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6962821" y="542156"/>
            <a:ext cx="3628979" cy="1269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59"/>
              </a:lnSpc>
              <a:spcBef>
                <a:spcPct val="0"/>
              </a:spcBef>
            </a:pPr>
            <a:r>
              <a:rPr lang="en-US" sz="7399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(Vitest)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4153840" y="931029"/>
            <a:ext cx="3411151" cy="634474"/>
            <a:chOff x="0" y="0"/>
            <a:chExt cx="4548201" cy="8459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4409" y="6247286"/>
            <a:ext cx="13184870" cy="3658801"/>
          </a:xfrm>
          <a:custGeom>
            <a:avLst/>
            <a:gdLst/>
            <a:ahLst/>
            <a:cxnLst/>
            <a:rect l="l" t="t" r="r" b="b"/>
            <a:pathLst>
              <a:path w="13184870" h="3658801">
                <a:moveTo>
                  <a:pt x="0" y="0"/>
                </a:moveTo>
                <a:lnTo>
                  <a:pt x="13184870" y="0"/>
                </a:lnTo>
                <a:lnTo>
                  <a:pt x="13184870" y="3658801"/>
                </a:lnTo>
                <a:lnTo>
                  <a:pt x="0" y="3658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4128128" y="643194"/>
            <a:ext cx="3411151" cy="634474"/>
            <a:chOff x="0" y="0"/>
            <a:chExt cx="4548201" cy="8459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Freeform 5"/>
          <p:cNvSpPr/>
          <p:nvPr/>
        </p:nvSpPr>
        <p:spPr>
          <a:xfrm>
            <a:off x="429239" y="643194"/>
            <a:ext cx="9217259" cy="5046449"/>
          </a:xfrm>
          <a:custGeom>
            <a:avLst/>
            <a:gdLst/>
            <a:ahLst/>
            <a:cxnLst/>
            <a:rect l="l" t="t" r="r" b="b"/>
            <a:pathLst>
              <a:path w="9217259" h="5046449">
                <a:moveTo>
                  <a:pt x="0" y="0"/>
                </a:moveTo>
                <a:lnTo>
                  <a:pt x="9217259" y="0"/>
                </a:lnTo>
                <a:lnTo>
                  <a:pt x="9217259" y="5046449"/>
                </a:lnTo>
                <a:lnTo>
                  <a:pt x="0" y="5046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9860348" y="1861988"/>
            <a:ext cx="8175605" cy="130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7"/>
              </a:lnSpc>
              <a:spcBef>
                <a:spcPct val="0"/>
              </a:spcBef>
            </a:pPr>
            <a:r>
              <a:rPr lang="en-US" sz="376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Pruebas de seguridad (OWASP ZAP)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46262" y="3940108"/>
            <a:ext cx="7803775" cy="174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1.Sin vulnerabilidades de riesgo alto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2.Alertas de riesgo medio relacionadas con CSP en desarrollo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(necesarias para Vite y Tailwind)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3.Headers de seguridad implementados correctamente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4.Alertas informativas no representan riesgos de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2270" y="1973272"/>
            <a:ext cx="8154927" cy="3170228"/>
          </a:xfrm>
          <a:custGeom>
            <a:avLst/>
            <a:gdLst/>
            <a:ahLst/>
            <a:cxnLst/>
            <a:rect l="l" t="t" r="r" b="b"/>
            <a:pathLst>
              <a:path w="8154927" h="3170228">
                <a:moveTo>
                  <a:pt x="0" y="0"/>
                </a:moveTo>
                <a:lnTo>
                  <a:pt x="8154926" y="0"/>
                </a:lnTo>
                <a:lnTo>
                  <a:pt x="8154926" y="3170228"/>
                </a:lnTo>
                <a:lnTo>
                  <a:pt x="0" y="3170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9564625" y="2175481"/>
            <a:ext cx="8315351" cy="3170228"/>
          </a:xfrm>
          <a:custGeom>
            <a:avLst/>
            <a:gdLst/>
            <a:ahLst/>
            <a:cxnLst/>
            <a:rect l="l" t="t" r="r" b="b"/>
            <a:pathLst>
              <a:path w="8315351" h="3170228">
                <a:moveTo>
                  <a:pt x="0" y="0"/>
                </a:moveTo>
                <a:lnTo>
                  <a:pt x="8315351" y="0"/>
                </a:lnTo>
                <a:lnTo>
                  <a:pt x="8315351" y="3170228"/>
                </a:lnTo>
                <a:lnTo>
                  <a:pt x="0" y="3170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5958041" y="5738461"/>
            <a:ext cx="11301259" cy="4026074"/>
          </a:xfrm>
          <a:custGeom>
            <a:avLst/>
            <a:gdLst/>
            <a:ahLst/>
            <a:cxnLst/>
            <a:rect l="l" t="t" r="r" b="b"/>
            <a:pathLst>
              <a:path w="11301259" h="4026074">
                <a:moveTo>
                  <a:pt x="0" y="0"/>
                </a:moveTo>
                <a:lnTo>
                  <a:pt x="11301259" y="0"/>
                </a:lnTo>
                <a:lnTo>
                  <a:pt x="11301259" y="4026073"/>
                </a:lnTo>
                <a:lnTo>
                  <a:pt x="0" y="4026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2862822" y="401076"/>
            <a:ext cx="12068749" cy="81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Pruebas de Casos de Uso - Caja Negra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3735" y="1359840"/>
            <a:ext cx="8154927" cy="613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CU3 INICIO DE SESIÓN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23449" y="1371549"/>
            <a:ext cx="7022281" cy="601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CU1 REGISTRO DE USUARIOS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879640"/>
            <a:ext cx="4802179" cy="1251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CU2 REGISTRO DE VEHÍCULOS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33735" y="8941063"/>
            <a:ext cx="3411151" cy="634474"/>
            <a:chOff x="0" y="0"/>
            <a:chExt cx="4548201" cy="8459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6060" y="2446977"/>
            <a:ext cx="15515880" cy="7098515"/>
          </a:xfrm>
          <a:custGeom>
            <a:avLst/>
            <a:gdLst/>
            <a:ahLst/>
            <a:cxnLst/>
            <a:rect l="l" t="t" r="r" b="b"/>
            <a:pathLst>
              <a:path w="15515880" h="7098515">
                <a:moveTo>
                  <a:pt x="0" y="0"/>
                </a:moveTo>
                <a:lnTo>
                  <a:pt x="15515880" y="0"/>
                </a:lnTo>
                <a:lnTo>
                  <a:pt x="15515880" y="7098515"/>
                </a:lnTo>
                <a:lnTo>
                  <a:pt x="0" y="7098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067502" y="933450"/>
            <a:ext cx="11882107" cy="870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b="1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Demostración Plaraforma PepsiCo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550" y="335520"/>
            <a:ext cx="12931504" cy="985835"/>
            <a:chOff x="0" y="0"/>
            <a:chExt cx="17242006" cy="13144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41828" cy="1314414"/>
            </a:xfrm>
            <a:custGeom>
              <a:avLst/>
              <a:gdLst/>
              <a:ahLst/>
              <a:cxnLst/>
              <a:rect l="l" t="t" r="r" b="b"/>
              <a:pathLst>
                <a:path w="17241828" h="1314414">
                  <a:moveTo>
                    <a:pt x="0" y="0"/>
                  </a:moveTo>
                  <a:lnTo>
                    <a:pt x="17241828" y="0"/>
                  </a:lnTo>
                  <a:lnTo>
                    <a:pt x="17241828" y="1314414"/>
                  </a:lnTo>
                  <a:lnTo>
                    <a:pt x="0" y="1314414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95487" y="434114"/>
            <a:ext cx="2889295" cy="712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8017" y="3559842"/>
            <a:ext cx="16951965" cy="305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•Resultados obtenidos</a:t>
            </a:r>
          </a:p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•Lecciones Aprendidas</a:t>
            </a:r>
          </a:p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•Obstáculos presentados durante el desarrollo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874</Words>
  <Application>Microsoft Office PowerPoint</Application>
  <PresentationFormat>Personalizado</PresentationFormat>
  <Paragraphs>170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9" baseType="lpstr">
      <vt:lpstr>Montserrat Semi-Bold</vt:lpstr>
      <vt:lpstr>Calibri</vt:lpstr>
      <vt:lpstr>Montserrat Ultra-Bold</vt:lpstr>
      <vt:lpstr>Arial</vt:lpstr>
      <vt:lpstr>Montserrat Bold</vt:lpstr>
      <vt:lpstr>Montserrat Heavy</vt:lpstr>
      <vt:lpstr>Montserrat</vt:lpstr>
      <vt:lpstr>Montserrat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Final del proyecto (Español)</dc:title>
  <cp:lastModifiedBy>DANA SOPHIE WERDECKER GRAU</cp:lastModifiedBy>
  <cp:revision>2</cp:revision>
  <dcterms:created xsi:type="dcterms:W3CDTF">2006-08-16T00:00:00Z</dcterms:created>
  <dcterms:modified xsi:type="dcterms:W3CDTF">2025-12-02T04:18:09Z</dcterms:modified>
  <dc:identifier>DAG56dYQzNg</dc:identifier>
</cp:coreProperties>
</file>